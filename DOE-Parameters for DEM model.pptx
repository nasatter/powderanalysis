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9" r:id="rId3"/>
    <p:sldId id="263" r:id="rId4"/>
    <p:sldId id="264" r:id="rId5"/>
    <p:sldId id="262" r:id="rId6"/>
    <p:sldId id="265" r:id="rId7"/>
    <p:sldId id="258" r:id="rId8"/>
    <p:sldId id="266" r:id="rId9"/>
    <p:sldId id="259" r:id="rId10"/>
    <p:sldId id="268" r:id="rId11"/>
    <p:sldId id="260" r:id="rId12"/>
    <p:sldId id="267" r:id="rId13"/>
    <p:sldId id="271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90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projects\Powder_Spreading_Projects\new_DEM\DEM%20Simulation%20Results%20-%20081226\output\powder_features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projects\Powder_Spreading_Projects\new_DEM\DEM%20Simulation%20Results%20-%20081226\output\powder_features.csv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projects\Powder_Spreading_Projects\new_DEM\DEM%20Simulation%20Results%20-%20081226\output\powder_features.csv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projects\Powder_Spreading_Projects\new_DEM\DEM%20Simulation%20Results%20-%20081226\output\powder_features.csv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projects\Powder_Spreading_Projects\new_DEM\DEM%20Simulation%20Results%20-%20081226\output\powder_features.csv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projects\Powder_Spreading_Projects\new_DEM\DEM%20Simulation%20Results%20-%20081226\output\powder_features.csv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projects\Powder_Spreading_Projects\new_DEM\DEM%20Simulation%20Results%20-%20081226\output\powder_features.csv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projects\Powder_Spreading_Projects\new_DEM\DEM%20Simulation%20Results%20-%20081226\output\powder_features.csv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projects\Powder_Spreading_Projects\new_DEM\DEM%20Simulation%20Results%20-%20081226\output\powder_features.csv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projects\Powder_Spreading_Projects\new_DEM\DEM%20Simulation%20Results%20-%20081226\output\powder_features.csv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projects\Powder_Spreading_Projects\new_DEM\DEM%20Simulation%20Results%20-%20081226\output\powder_features.csv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projects\Powder_Spreading_Projects\new_DEM\DEM%20Simulation%20Results%20-%20081226\output\powder_features.csv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projects\Powder_Spreading_Projects\new_DEM\DEM%20Simulation%20Results%20-%20081226\output\powder_features.csv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projects\Powder_Spreading_Projects\new_DEM\DEM%20Simulation%20Results%20-%20081226\output\powder_features.csv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projects\Powder_Spreading_Projects\new_DEM\DEM%20Simulation%20Results%20-%20081226\output\powder_features.csv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projects\Powder_Spreading_Projects\new_DEM\DEM%20Simulation%20Results%20-%20081226\output\powder_features.csv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projects\Powder_Spreading_Projects\new_DEM\DEM%20Simulation%20Results%20-%20081226\output\powder_features.csv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projects\Powder_Spreading_Projects\new_DEM\DEM%20Simulation%20Results%20-%20081226\output\powder_features.csv" TargetMode="External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projects\Powder_Spreading_Projects\new_DEM\DEM%20Simulation%20Results%20-%20081226\output\powder_features.csv" TargetMode="External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projects\Powder_Spreading_Projects\new_DEM\DEM%20Simulation%20Results%20-%20081226\output\powder_features.csv" TargetMode="External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projects\Powder_Spreading_Projects\new_DEM\DEM%20Simulation%20Results%20-%20081226\output\powder_features.csv" TargetMode="External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projects\Powder_Spreading_Projects\new_DEM\DEM%20Simulation%20Results%20-%20081226\output\powder_features.csv" TargetMode="External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projects\Powder_Spreading_Projects\new_DEM\DEM%20Simulation%20Results%20-%20081226\output\powder_features.csv" TargetMode="External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powder_features!$M$1</c:f>
              <c:strCache>
                <c:ptCount val="1"/>
                <c:pt idx="0">
                  <c:v>mean_coordination_number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poly"/>
            <c:order val="2"/>
            <c:dispRSqr val="1"/>
            <c:dispEq val="0"/>
            <c:trendlineLbl>
              <c:layout>
                <c:manualLayout>
                  <c:x val="-1.8886920384951881E-2"/>
                  <c:y val="-1.8935185185185208E-2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xVal>
            <c:numRef>
              <c:f>powder_features!$K$2:$K$28</c:f>
              <c:numCache>
                <c:formatCode>General</c:formatCode>
                <c:ptCount val="27"/>
                <c:pt idx="0">
                  <c:v>0.57153998686070195</c:v>
                </c:pt>
                <c:pt idx="1">
                  <c:v>0.56520520608881297</c:v>
                </c:pt>
                <c:pt idx="2">
                  <c:v>0.57847557392621496</c:v>
                </c:pt>
                <c:pt idx="3">
                  <c:v>0.57460908697132496</c:v>
                </c:pt>
                <c:pt idx="4">
                  <c:v>0.57380013900016702</c:v>
                </c:pt>
                <c:pt idx="5">
                  <c:v>0.56245218690107202</c:v>
                </c:pt>
                <c:pt idx="6">
                  <c:v>0.56468058440112301</c:v>
                </c:pt>
                <c:pt idx="7">
                  <c:v>0.59099446788374099</c:v>
                </c:pt>
                <c:pt idx="8">
                  <c:v>0.58903283231749404</c:v>
                </c:pt>
                <c:pt idx="9">
                  <c:v>0.57773895425430399</c:v>
                </c:pt>
                <c:pt idx="10">
                  <c:v>0.57693223671015503</c:v>
                </c:pt>
                <c:pt idx="11">
                  <c:v>0.56303383195501999</c:v>
                </c:pt>
                <c:pt idx="12">
                  <c:v>0.56030555816926098</c:v>
                </c:pt>
                <c:pt idx="13">
                  <c:v>0.56213982930544903</c:v>
                </c:pt>
                <c:pt idx="14">
                  <c:v>0.54101296097562701</c:v>
                </c:pt>
                <c:pt idx="15">
                  <c:v>0.534245265414522</c:v>
                </c:pt>
                <c:pt idx="16">
                  <c:v>0.52095714087074996</c:v>
                </c:pt>
                <c:pt idx="17">
                  <c:v>0.60849808636635505</c:v>
                </c:pt>
                <c:pt idx="18">
                  <c:v>0.594793763559887</c:v>
                </c:pt>
                <c:pt idx="19">
                  <c:v>0.59617468741846202</c:v>
                </c:pt>
                <c:pt idx="20">
                  <c:v>0.58409892721387202</c:v>
                </c:pt>
                <c:pt idx="21">
                  <c:v>0.58059960130673305</c:v>
                </c:pt>
                <c:pt idx="22">
                  <c:v>0.57869161591311202</c:v>
                </c:pt>
                <c:pt idx="23">
                  <c:v>0.56324144507152296</c:v>
                </c:pt>
                <c:pt idx="24">
                  <c:v>0.56439479484212896</c:v>
                </c:pt>
                <c:pt idx="25">
                  <c:v>0.562951633363166</c:v>
                </c:pt>
                <c:pt idx="26">
                  <c:v>0.58384422301022298</c:v>
                </c:pt>
              </c:numCache>
            </c:numRef>
          </c:xVal>
          <c:yVal>
            <c:numRef>
              <c:f>powder_features!$M$2:$M$28</c:f>
              <c:numCache>
                <c:formatCode>General</c:formatCode>
                <c:ptCount val="27"/>
                <c:pt idx="0">
                  <c:v>2.7928824549498601</c:v>
                </c:pt>
                <c:pt idx="1">
                  <c:v>2.7037792833238101</c:v>
                </c:pt>
                <c:pt idx="2">
                  <c:v>3.3653459163139199</c:v>
                </c:pt>
                <c:pt idx="3">
                  <c:v>2.9380530973451302</c:v>
                </c:pt>
                <c:pt idx="4">
                  <c:v>2.7854594112399602</c:v>
                </c:pt>
                <c:pt idx="5">
                  <c:v>2.5654705697198601</c:v>
                </c:pt>
                <c:pt idx="6">
                  <c:v>2.85964528136632</c:v>
                </c:pt>
                <c:pt idx="7">
                  <c:v>3.5353994490358098</c:v>
                </c:pt>
                <c:pt idx="8">
                  <c:v>3.7404999999999999</c:v>
                </c:pt>
                <c:pt idx="9">
                  <c:v>3.3725604853446298</c:v>
                </c:pt>
                <c:pt idx="10">
                  <c:v>3.3874602715978002</c:v>
                </c:pt>
                <c:pt idx="11">
                  <c:v>2.6593586722671798</c:v>
                </c:pt>
                <c:pt idx="12">
                  <c:v>2.7416453658998301</c:v>
                </c:pt>
                <c:pt idx="13">
                  <c:v>2.7687698272823398</c:v>
                </c:pt>
                <c:pt idx="14">
                  <c:v>2.3228229937393201</c:v>
                </c:pt>
                <c:pt idx="15">
                  <c:v>2.5208354353748299</c:v>
                </c:pt>
                <c:pt idx="16">
                  <c:v>2.4654671028716799</c:v>
                </c:pt>
                <c:pt idx="17">
                  <c:v>4.1338861766869499</c:v>
                </c:pt>
                <c:pt idx="18">
                  <c:v>3.98613333333333</c:v>
                </c:pt>
                <c:pt idx="19">
                  <c:v>3.7309333333333301</c:v>
                </c:pt>
                <c:pt idx="20">
                  <c:v>3.4389767754964602</c:v>
                </c:pt>
                <c:pt idx="21">
                  <c:v>3.2410652683869099</c:v>
                </c:pt>
                <c:pt idx="22">
                  <c:v>2.9734091068546902</c:v>
                </c:pt>
                <c:pt idx="23">
                  <c:v>3.1248520298029301</c:v>
                </c:pt>
                <c:pt idx="24">
                  <c:v>2.9250583822800902</c:v>
                </c:pt>
                <c:pt idx="25">
                  <c:v>2.7819298879652998</c:v>
                </c:pt>
                <c:pt idx="26">
                  <c:v>3.4318071956356602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297-43AD-80B5-1018DEA1A8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4256863"/>
        <c:axId val="154262623"/>
      </c:scatterChart>
      <c:valAx>
        <c:axId val="15425686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Solid Fraction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262623"/>
        <c:crosses val="autoZero"/>
        <c:crossBetween val="midCat"/>
      </c:valAx>
      <c:valAx>
        <c:axId val="154262623"/>
        <c:scaling>
          <c:orientation val="minMax"/>
          <c:min val="2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Coordinate Number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25686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powder_features!$K$1</c:f>
              <c:strCache>
                <c:ptCount val="1"/>
                <c:pt idx="0">
                  <c:v>mean_clipped_hull_relative_density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poly"/>
            <c:order val="3"/>
            <c:dispRSqr val="1"/>
            <c:dispEq val="0"/>
            <c:trendlineLbl>
              <c:layout>
                <c:manualLayout>
                  <c:x val="3.0727690288713912E-2"/>
                  <c:y val="-0.51146179644211143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xVal>
            <c:numRef>
              <c:f>powder_features!$F$2:$F$28</c:f>
              <c:numCache>
                <c:formatCode>General</c:formatCode>
                <c:ptCount val="27"/>
                <c:pt idx="0">
                  <c:v>0.50711548328399603</c:v>
                </c:pt>
                <c:pt idx="1">
                  <c:v>0.52132195234298695</c:v>
                </c:pt>
                <c:pt idx="2">
                  <c:v>0.50830173492431596</c:v>
                </c:pt>
                <c:pt idx="3">
                  <c:v>0.51266807317733698</c:v>
                </c:pt>
                <c:pt idx="4">
                  <c:v>0.51586067676544101</c:v>
                </c:pt>
                <c:pt idx="5">
                  <c:v>0.52016490697860696</c:v>
                </c:pt>
                <c:pt idx="6">
                  <c:v>0.52341127395629805</c:v>
                </c:pt>
                <c:pt idx="7">
                  <c:v>0.48465475440025302</c:v>
                </c:pt>
                <c:pt idx="8">
                  <c:v>0.486221224069595</c:v>
                </c:pt>
                <c:pt idx="9">
                  <c:v>0.52112990617751997</c:v>
                </c:pt>
                <c:pt idx="10">
                  <c:v>0.52574896812438898</c:v>
                </c:pt>
                <c:pt idx="11">
                  <c:v>0.54942375421524003</c:v>
                </c:pt>
                <c:pt idx="12">
                  <c:v>0.56300961971282903</c:v>
                </c:pt>
                <c:pt idx="13">
                  <c:v>0.573819279670715</c:v>
                </c:pt>
                <c:pt idx="14">
                  <c:v>0.56135582923889105</c:v>
                </c:pt>
                <c:pt idx="15">
                  <c:v>0.57321560382842995</c:v>
                </c:pt>
                <c:pt idx="16">
                  <c:v>0.58188009262084905</c:v>
                </c:pt>
                <c:pt idx="17">
                  <c:v>0.41715237498283297</c:v>
                </c:pt>
                <c:pt idx="18">
                  <c:v>0.43209728598594599</c:v>
                </c:pt>
                <c:pt idx="19">
                  <c:v>0.43895730376243502</c:v>
                </c:pt>
                <c:pt idx="20">
                  <c:v>0.445480376482009</c:v>
                </c:pt>
                <c:pt idx="21">
                  <c:v>0.44782698154449402</c:v>
                </c:pt>
                <c:pt idx="22">
                  <c:v>0.45873239636421198</c:v>
                </c:pt>
                <c:pt idx="23">
                  <c:v>0.469378381967544</c:v>
                </c:pt>
                <c:pt idx="24">
                  <c:v>0.46229028701782199</c:v>
                </c:pt>
                <c:pt idx="25">
                  <c:v>0.46678137779235801</c:v>
                </c:pt>
                <c:pt idx="26">
                  <c:v>0.49495601654052701</c:v>
                </c:pt>
              </c:numCache>
            </c:numRef>
          </c:xVal>
          <c:yVal>
            <c:numRef>
              <c:f>powder_features!$K$2:$K$28</c:f>
              <c:numCache>
                <c:formatCode>General</c:formatCode>
                <c:ptCount val="27"/>
                <c:pt idx="0">
                  <c:v>0.57153998686070195</c:v>
                </c:pt>
                <c:pt idx="1">
                  <c:v>0.56520520608881297</c:v>
                </c:pt>
                <c:pt idx="2">
                  <c:v>0.57847557392621496</c:v>
                </c:pt>
                <c:pt idx="3">
                  <c:v>0.57460908697132496</c:v>
                </c:pt>
                <c:pt idx="4">
                  <c:v>0.57380013900016702</c:v>
                </c:pt>
                <c:pt idx="5">
                  <c:v>0.56245218690107202</c:v>
                </c:pt>
                <c:pt idx="6">
                  <c:v>0.56468058440112301</c:v>
                </c:pt>
                <c:pt idx="7">
                  <c:v>0.59099446788374099</c:v>
                </c:pt>
                <c:pt idx="8">
                  <c:v>0.58903283231749404</c:v>
                </c:pt>
                <c:pt idx="9">
                  <c:v>0.57773895425430399</c:v>
                </c:pt>
                <c:pt idx="10">
                  <c:v>0.57693223671015503</c:v>
                </c:pt>
                <c:pt idx="11">
                  <c:v>0.56303383195501999</c:v>
                </c:pt>
                <c:pt idx="12">
                  <c:v>0.56030555816926098</c:v>
                </c:pt>
                <c:pt idx="13">
                  <c:v>0.56213982930544903</c:v>
                </c:pt>
                <c:pt idx="14">
                  <c:v>0.54101296097562701</c:v>
                </c:pt>
                <c:pt idx="15">
                  <c:v>0.534245265414522</c:v>
                </c:pt>
                <c:pt idx="16">
                  <c:v>0.52095714087074996</c:v>
                </c:pt>
                <c:pt idx="17">
                  <c:v>0.60849808636635505</c:v>
                </c:pt>
                <c:pt idx="18">
                  <c:v>0.594793763559887</c:v>
                </c:pt>
                <c:pt idx="19">
                  <c:v>0.59617468741846202</c:v>
                </c:pt>
                <c:pt idx="20">
                  <c:v>0.58409892721387202</c:v>
                </c:pt>
                <c:pt idx="21">
                  <c:v>0.58059960130673305</c:v>
                </c:pt>
                <c:pt idx="22">
                  <c:v>0.57869161591311202</c:v>
                </c:pt>
                <c:pt idx="23">
                  <c:v>0.56324144507152296</c:v>
                </c:pt>
                <c:pt idx="24">
                  <c:v>0.56439479484212896</c:v>
                </c:pt>
                <c:pt idx="25">
                  <c:v>0.562951633363166</c:v>
                </c:pt>
                <c:pt idx="26">
                  <c:v>0.58384422301022298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833C-4CCD-B585-78C7610678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39151535"/>
        <c:axId val="339153455"/>
      </c:scatterChart>
      <c:valAx>
        <c:axId val="339151535"/>
        <c:scaling>
          <c:orientation val="minMax"/>
          <c:min val="0.4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Roughness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9153455"/>
        <c:crosses val="autoZero"/>
        <c:crossBetween val="midCat"/>
      </c:valAx>
      <c:valAx>
        <c:axId val="3391534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Solid Fraction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915153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powder_features!$K$1</c:f>
              <c:strCache>
                <c:ptCount val="1"/>
                <c:pt idx="0">
                  <c:v>transverse_rms_roughness_variance_mm2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1"/>
            <c:dispEq val="0"/>
            <c:trendlineLbl>
              <c:layout>
                <c:manualLayout>
                  <c:x val="7.692104111986002E-2"/>
                  <c:y val="0.24377989209682124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xVal>
            <c:numRef>
              <c:f>powder_features!$J$2:$J$28</c:f>
              <c:numCache>
                <c:formatCode>General</c:formatCode>
                <c:ptCount val="27"/>
                <c:pt idx="0">
                  <c:v>0.48642283678054798</c:v>
                </c:pt>
                <c:pt idx="1">
                  <c:v>0.50558012723922696</c:v>
                </c:pt>
                <c:pt idx="2">
                  <c:v>0.49400648474693298</c:v>
                </c:pt>
                <c:pt idx="3">
                  <c:v>0.49920472502708402</c:v>
                </c:pt>
                <c:pt idx="4">
                  <c:v>0.48960104584693898</c:v>
                </c:pt>
                <c:pt idx="5">
                  <c:v>0.51206338405609098</c:v>
                </c:pt>
                <c:pt idx="6">
                  <c:v>0.509221851825714</c:v>
                </c:pt>
                <c:pt idx="7">
                  <c:v>0.481332898139953</c:v>
                </c:pt>
                <c:pt idx="8">
                  <c:v>0.49170523881912198</c:v>
                </c:pt>
                <c:pt idx="9">
                  <c:v>0.50709044933319003</c:v>
                </c:pt>
                <c:pt idx="10">
                  <c:v>0.50785231590270996</c:v>
                </c:pt>
                <c:pt idx="11">
                  <c:v>0.50962579250335605</c:v>
                </c:pt>
                <c:pt idx="12">
                  <c:v>0.52944523096084595</c:v>
                </c:pt>
                <c:pt idx="13">
                  <c:v>0.52235591411590498</c:v>
                </c:pt>
                <c:pt idx="14">
                  <c:v>0.54279243946075395</c:v>
                </c:pt>
                <c:pt idx="15">
                  <c:v>0.55546408891677801</c:v>
                </c:pt>
                <c:pt idx="16">
                  <c:v>0.55156433582305897</c:v>
                </c:pt>
                <c:pt idx="17">
                  <c:v>0.419630616903305</c:v>
                </c:pt>
                <c:pt idx="18">
                  <c:v>0.43031713366508401</c:v>
                </c:pt>
                <c:pt idx="19">
                  <c:v>0.432635277509689</c:v>
                </c:pt>
                <c:pt idx="20">
                  <c:v>0.43110749125480602</c:v>
                </c:pt>
                <c:pt idx="21">
                  <c:v>0.432525604963302</c:v>
                </c:pt>
                <c:pt idx="22">
                  <c:v>0.440867960453033</c:v>
                </c:pt>
                <c:pt idx="23">
                  <c:v>0.44916778802871699</c:v>
                </c:pt>
                <c:pt idx="24">
                  <c:v>0.44825577735900801</c:v>
                </c:pt>
                <c:pt idx="25">
                  <c:v>0.45269972085952698</c:v>
                </c:pt>
                <c:pt idx="26">
                  <c:v>0.48705667257308899</c:v>
                </c:pt>
              </c:numCache>
            </c:numRef>
          </c:xVal>
          <c:yVal>
            <c:numRef>
              <c:f>powder_features!$K$2:$K$28</c:f>
              <c:numCache>
                <c:formatCode>General</c:formatCode>
                <c:ptCount val="27"/>
                <c:pt idx="0">
                  <c:v>5.7188482023775499E-3</c:v>
                </c:pt>
                <c:pt idx="1">
                  <c:v>7.18273734673857E-3</c:v>
                </c:pt>
                <c:pt idx="2">
                  <c:v>6.7031909711658903E-3</c:v>
                </c:pt>
                <c:pt idx="3">
                  <c:v>6.8394811823964102E-3</c:v>
                </c:pt>
                <c:pt idx="4">
                  <c:v>6.2662097625434399E-3</c:v>
                </c:pt>
                <c:pt idx="5">
                  <c:v>8.9902589097619005E-3</c:v>
                </c:pt>
                <c:pt idx="6">
                  <c:v>7.8344689682125993E-3</c:v>
                </c:pt>
                <c:pt idx="7">
                  <c:v>6.8058599717914997E-3</c:v>
                </c:pt>
                <c:pt idx="8">
                  <c:v>7.0450534112751397E-3</c:v>
                </c:pt>
                <c:pt idx="9">
                  <c:v>8.6089195683598501E-3</c:v>
                </c:pt>
                <c:pt idx="10">
                  <c:v>8.2768034189939499E-3</c:v>
                </c:pt>
                <c:pt idx="11">
                  <c:v>6.17994042113423E-3</c:v>
                </c:pt>
                <c:pt idx="12">
                  <c:v>6.9901887327432598E-3</c:v>
                </c:pt>
                <c:pt idx="13">
                  <c:v>7.4228160083293897E-3</c:v>
                </c:pt>
                <c:pt idx="14">
                  <c:v>8.4906984120607307E-3</c:v>
                </c:pt>
                <c:pt idx="15">
                  <c:v>9.74317267537117E-3</c:v>
                </c:pt>
                <c:pt idx="16">
                  <c:v>9.4134015962481499E-3</c:v>
                </c:pt>
                <c:pt idx="17">
                  <c:v>4.63337078690528E-3</c:v>
                </c:pt>
                <c:pt idx="18">
                  <c:v>3.9389049634337399E-3</c:v>
                </c:pt>
                <c:pt idx="19">
                  <c:v>4.1445386596024002E-3</c:v>
                </c:pt>
                <c:pt idx="20">
                  <c:v>4.7720121219754202E-3</c:v>
                </c:pt>
                <c:pt idx="21">
                  <c:v>4.3111764825880501E-3</c:v>
                </c:pt>
                <c:pt idx="22">
                  <c:v>4.4192015193402698E-3</c:v>
                </c:pt>
                <c:pt idx="23">
                  <c:v>5.4646590724587397E-3</c:v>
                </c:pt>
                <c:pt idx="24">
                  <c:v>4.9772984348237497E-3</c:v>
                </c:pt>
                <c:pt idx="25">
                  <c:v>6.2381438910961099E-3</c:v>
                </c:pt>
                <c:pt idx="26">
                  <c:v>7.1367514319717797E-3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0CD-4FDA-B343-E9AF885B5F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95325296"/>
        <c:axId val="1860516896"/>
      </c:scatterChart>
      <c:valAx>
        <c:axId val="1695325296"/>
        <c:scaling>
          <c:orientation val="minMax"/>
          <c:min val="0.4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Roughness (mm)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60516896"/>
        <c:crosses val="autoZero"/>
        <c:crossBetween val="midCat"/>
      </c:valAx>
      <c:valAx>
        <c:axId val="18605168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Roughness Variance (mm)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532529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powder_features!$O$1</c:f>
              <c:strCache>
                <c:ptCount val="1"/>
                <c:pt idx="0">
                  <c:v>variance_clipped_hull_relative_density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1"/>
            <c:dispEq val="0"/>
            <c:trendlineLbl>
              <c:layout>
                <c:manualLayout>
                  <c:x val="1.3307086614173229E-3"/>
                  <c:y val="-0.51230497229512972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xVal>
            <c:numRef>
              <c:f>powder_features!$N$2:$N$28</c:f>
              <c:numCache>
                <c:formatCode>General</c:formatCode>
                <c:ptCount val="27"/>
                <c:pt idx="0">
                  <c:v>0.59260562179970599</c:v>
                </c:pt>
                <c:pt idx="1">
                  <c:v>0.58369885216436801</c:v>
                </c:pt>
                <c:pt idx="2">
                  <c:v>0.58607042270051102</c:v>
                </c:pt>
                <c:pt idx="3">
                  <c:v>0.58937059686003801</c:v>
                </c:pt>
                <c:pt idx="4">
                  <c:v>0.59457365927138295</c:v>
                </c:pt>
                <c:pt idx="5">
                  <c:v>0.57658878569431704</c:v>
                </c:pt>
                <c:pt idx="6">
                  <c:v>0.58085317398910696</c:v>
                </c:pt>
                <c:pt idx="7">
                  <c:v>0.59556769614805105</c:v>
                </c:pt>
                <c:pt idx="8">
                  <c:v>0.59138419659262897</c:v>
                </c:pt>
                <c:pt idx="9">
                  <c:v>0.58728365421999995</c:v>
                </c:pt>
                <c:pt idx="10">
                  <c:v>0.58331561888768502</c:v>
                </c:pt>
                <c:pt idx="11">
                  <c:v>0.58847359759968598</c:v>
                </c:pt>
                <c:pt idx="12">
                  <c:v>0.58288866584195398</c:v>
                </c:pt>
                <c:pt idx="13">
                  <c:v>0.58758785057812701</c:v>
                </c:pt>
                <c:pt idx="14">
                  <c:v>0.56592220444855901</c:v>
                </c:pt>
                <c:pt idx="15">
                  <c:v>0.55751440150333498</c:v>
                </c:pt>
                <c:pt idx="16">
                  <c:v>0.55646472641936295</c:v>
                </c:pt>
                <c:pt idx="17">
                  <c:v>0.61222335888003998</c:v>
                </c:pt>
                <c:pt idx="18">
                  <c:v>0.59677544582131503</c:v>
                </c:pt>
                <c:pt idx="19">
                  <c:v>0.60097933944340998</c:v>
                </c:pt>
                <c:pt idx="20">
                  <c:v>0.59744984156745995</c:v>
                </c:pt>
                <c:pt idx="21">
                  <c:v>0.59767670412076002</c:v>
                </c:pt>
                <c:pt idx="22">
                  <c:v>0.59566609802963399</c:v>
                </c:pt>
                <c:pt idx="23">
                  <c:v>0.58034476268385304</c:v>
                </c:pt>
                <c:pt idx="24">
                  <c:v>0.58101955404462802</c:v>
                </c:pt>
                <c:pt idx="25">
                  <c:v>0.58062882164240004</c:v>
                </c:pt>
                <c:pt idx="26">
                  <c:v>0.58989301700498198</c:v>
                </c:pt>
              </c:numCache>
            </c:numRef>
          </c:xVal>
          <c:yVal>
            <c:numRef>
              <c:f>powder_features!$O$2:$O$28</c:f>
              <c:numCache>
                <c:formatCode>General</c:formatCode>
                <c:ptCount val="27"/>
                <c:pt idx="0">
                  <c:v>1.4898575811271E-3</c:v>
                </c:pt>
                <c:pt idx="1">
                  <c:v>2.1501752044941801E-3</c:v>
                </c:pt>
                <c:pt idx="2">
                  <c:v>7.6879492015453498E-4</c:v>
                </c:pt>
                <c:pt idx="3">
                  <c:v>1.71920351666026E-3</c:v>
                </c:pt>
                <c:pt idx="4">
                  <c:v>1.4485644841850699E-3</c:v>
                </c:pt>
                <c:pt idx="5">
                  <c:v>2.9678345045467801E-3</c:v>
                </c:pt>
                <c:pt idx="6">
                  <c:v>2.6640756315308299E-3</c:v>
                </c:pt>
                <c:pt idx="7">
                  <c:v>8.9776005075829996E-4</c:v>
                </c:pt>
                <c:pt idx="8">
                  <c:v>9.5771268021573399E-4</c:v>
                </c:pt>
                <c:pt idx="9">
                  <c:v>9.0244597279541701E-4</c:v>
                </c:pt>
                <c:pt idx="10">
                  <c:v>1.0067909872713201E-3</c:v>
                </c:pt>
                <c:pt idx="11">
                  <c:v>1.51840863840534E-3</c:v>
                </c:pt>
                <c:pt idx="12">
                  <c:v>1.8238419688804701E-3</c:v>
                </c:pt>
                <c:pt idx="13">
                  <c:v>1.7821926891894099E-3</c:v>
                </c:pt>
                <c:pt idx="14">
                  <c:v>2.5386440944063101E-3</c:v>
                </c:pt>
                <c:pt idx="15">
                  <c:v>2.95335945016959E-3</c:v>
                </c:pt>
                <c:pt idx="16">
                  <c:v>3.0484245223890202E-3</c:v>
                </c:pt>
                <c:pt idx="17">
                  <c:v>7.2937907825093703E-4</c:v>
                </c:pt>
                <c:pt idx="18">
                  <c:v>6.55232174179177E-4</c:v>
                </c:pt>
                <c:pt idx="19">
                  <c:v>9.0361650615747204E-4</c:v>
                </c:pt>
                <c:pt idx="20">
                  <c:v>1.08495159659518E-3</c:v>
                </c:pt>
                <c:pt idx="21">
                  <c:v>1.1337153893621001E-3</c:v>
                </c:pt>
                <c:pt idx="22">
                  <c:v>1.14396746698724E-3</c:v>
                </c:pt>
                <c:pt idx="23">
                  <c:v>1.6988658011713601E-3</c:v>
                </c:pt>
                <c:pt idx="24">
                  <c:v>1.87046108463348E-3</c:v>
                </c:pt>
                <c:pt idx="25">
                  <c:v>2.1115144651312101E-3</c:v>
                </c:pt>
                <c:pt idx="26">
                  <c:v>8.6190350788588495E-4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AAF2-4B82-9FCC-C01036ACC7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27207040"/>
        <c:axId val="1826810224"/>
      </c:scatterChart>
      <c:valAx>
        <c:axId val="18272070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Solid Fraction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26810224"/>
        <c:crosses val="autoZero"/>
        <c:crossBetween val="midCat"/>
      </c:valAx>
      <c:valAx>
        <c:axId val="18268102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Solid Fraction Variance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2720704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powder_features!$R$1</c:f>
              <c:strCache>
                <c:ptCount val="1"/>
                <c:pt idx="0">
                  <c:v>coordination_number_variance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1"/>
            <c:dispEq val="0"/>
            <c:trendlineLbl>
              <c:layout>
                <c:manualLayout>
                  <c:x val="-0.39050000000000001"/>
                  <c:y val="-9.1297025371828516E-2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xVal>
            <c:numRef>
              <c:f>powder_features!$Q$2:$Q$28</c:f>
              <c:numCache>
                <c:formatCode>General</c:formatCode>
                <c:ptCount val="27"/>
                <c:pt idx="0">
                  <c:v>4.3801341156747604</c:v>
                </c:pt>
                <c:pt idx="1">
                  <c:v>4.1498790271233901</c:v>
                </c:pt>
                <c:pt idx="2">
                  <c:v>4.52135157545605</c:v>
                </c:pt>
                <c:pt idx="3">
                  <c:v>4.3676172294475597</c:v>
                </c:pt>
                <c:pt idx="4">
                  <c:v>4.3395341313490698</c:v>
                </c:pt>
                <c:pt idx="5">
                  <c:v>4.0730172052035201</c:v>
                </c:pt>
                <c:pt idx="6">
                  <c:v>4.1544153441729099</c:v>
                </c:pt>
                <c:pt idx="7">
                  <c:v>4.5931401537551704</c:v>
                </c:pt>
                <c:pt idx="8">
                  <c:v>4.5330686019444002</c:v>
                </c:pt>
                <c:pt idx="9">
                  <c:v>4.43989005736137</c:v>
                </c:pt>
                <c:pt idx="10">
                  <c:v>4.4567099567099504</c:v>
                </c:pt>
                <c:pt idx="11">
                  <c:v>4.2684008276677501</c:v>
                </c:pt>
                <c:pt idx="12">
                  <c:v>4.2156317578004296</c:v>
                </c:pt>
                <c:pt idx="13">
                  <c:v>4.1439771917319996</c:v>
                </c:pt>
                <c:pt idx="14">
                  <c:v>3.9555901830931002</c:v>
                </c:pt>
                <c:pt idx="15">
                  <c:v>3.8496628322094399</c:v>
                </c:pt>
                <c:pt idx="16">
                  <c:v>3.7766911165444101</c:v>
                </c:pt>
                <c:pt idx="17">
                  <c:v>5.10086476815267</c:v>
                </c:pt>
                <c:pt idx="18">
                  <c:v>4.8688915375446902</c:v>
                </c:pt>
                <c:pt idx="19">
                  <c:v>4.7544001173364601</c:v>
                </c:pt>
                <c:pt idx="20">
                  <c:v>4.6669133974833397</c:v>
                </c:pt>
                <c:pt idx="21">
                  <c:v>4.6466187050359702</c:v>
                </c:pt>
                <c:pt idx="22">
                  <c:v>4.6359654178674301</c:v>
                </c:pt>
                <c:pt idx="23">
                  <c:v>4.4025727359060696</c:v>
                </c:pt>
                <c:pt idx="24">
                  <c:v>4.3805166333047296</c:v>
                </c:pt>
                <c:pt idx="25">
                  <c:v>4.4065872302158198</c:v>
                </c:pt>
                <c:pt idx="26">
                  <c:v>4.5653782134270298</c:v>
                </c:pt>
              </c:numCache>
            </c:numRef>
          </c:xVal>
          <c:yVal>
            <c:numRef>
              <c:f>powder_features!$R$2:$R$28</c:f>
              <c:numCache>
                <c:formatCode>General</c:formatCode>
                <c:ptCount val="27"/>
                <c:pt idx="0">
                  <c:v>5.0551348241476504</c:v>
                </c:pt>
                <c:pt idx="1">
                  <c:v>4.729732889988</c:v>
                </c:pt>
                <c:pt idx="2">
                  <c:v>4.3554728001094496</c:v>
                </c:pt>
                <c:pt idx="3">
                  <c:v>5.1039698503844404</c:v>
                </c:pt>
                <c:pt idx="4">
                  <c:v>5.2562791747489896</c:v>
                </c:pt>
                <c:pt idx="5">
                  <c:v>4.9240292374994699</c:v>
                </c:pt>
                <c:pt idx="6">
                  <c:v>4.8002236650902299</c:v>
                </c:pt>
                <c:pt idx="7">
                  <c:v>4.5099740627257603</c:v>
                </c:pt>
                <c:pt idx="8">
                  <c:v>3.6981738919115998</c:v>
                </c:pt>
                <c:pt idx="9">
                  <c:v>3.7067118425971199</c:v>
                </c:pt>
                <c:pt idx="10">
                  <c:v>3.7189688547595301</c:v>
                </c:pt>
                <c:pt idx="11">
                  <c:v>3.9173195532006102</c:v>
                </c:pt>
                <c:pt idx="12">
                  <c:v>3.8929530531526999</c:v>
                </c:pt>
                <c:pt idx="13">
                  <c:v>4.2358635832288902</c:v>
                </c:pt>
                <c:pt idx="14">
                  <c:v>3.60690973154367</c:v>
                </c:pt>
                <c:pt idx="15">
                  <c:v>3.9111551818355301</c:v>
                </c:pt>
                <c:pt idx="16">
                  <c:v>4.0870524579732397</c:v>
                </c:pt>
                <c:pt idx="17">
                  <c:v>5.8743499305717402</c:v>
                </c:pt>
                <c:pt idx="18">
                  <c:v>5.0784601539093099</c:v>
                </c:pt>
                <c:pt idx="19">
                  <c:v>5.7330951886887496</c:v>
                </c:pt>
                <c:pt idx="20">
                  <c:v>5.7717739336958198</c:v>
                </c:pt>
                <c:pt idx="21">
                  <c:v>5.7465844901057501</c:v>
                </c:pt>
                <c:pt idx="22">
                  <c:v>5.7150868921758304</c:v>
                </c:pt>
                <c:pt idx="23">
                  <c:v>5.3179490056522498</c:v>
                </c:pt>
                <c:pt idx="24">
                  <c:v>5.2764252787958696</c:v>
                </c:pt>
                <c:pt idx="25">
                  <c:v>5.4710402414916004</c:v>
                </c:pt>
                <c:pt idx="26">
                  <c:v>4.3724133163590704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8756-4EAA-878D-4956060FC4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27207040"/>
        <c:axId val="1826810224"/>
      </c:scatterChart>
      <c:valAx>
        <c:axId val="1827207040"/>
        <c:scaling>
          <c:orientation val="minMax"/>
          <c:min val="3.5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Coordinate Number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26810224"/>
        <c:crosses val="autoZero"/>
        <c:crossBetween val="midCat"/>
      </c:valAx>
      <c:valAx>
        <c:axId val="1826810224"/>
        <c:scaling>
          <c:orientation val="minMax"/>
          <c:min val="3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Coordiante Number</a:t>
                </a:r>
                <a:r>
                  <a:rPr lang="en-US" baseline="0"/>
                  <a:t> </a:t>
                </a:r>
                <a:r>
                  <a:rPr lang="en-US"/>
                  <a:t>Variance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2720704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powder_features!$I$2:$I$28</c:f>
              <c:numCache>
                <c:formatCode>General</c:formatCode>
                <c:ptCount val="27"/>
                <c:pt idx="0">
                  <c:v>100</c:v>
                </c:pt>
                <c:pt idx="1">
                  <c:v>50</c:v>
                </c:pt>
                <c:pt idx="2">
                  <c:v>150</c:v>
                </c:pt>
                <c:pt idx="3">
                  <c:v>50</c:v>
                </c:pt>
                <c:pt idx="4">
                  <c:v>150</c:v>
                </c:pt>
                <c:pt idx="5">
                  <c:v>100</c:v>
                </c:pt>
                <c:pt idx="6">
                  <c:v>150</c:v>
                </c:pt>
                <c:pt idx="7">
                  <c:v>50</c:v>
                </c:pt>
                <c:pt idx="8">
                  <c:v>50</c:v>
                </c:pt>
                <c:pt idx="9">
                  <c:v>100</c:v>
                </c:pt>
                <c:pt idx="10">
                  <c:v>150</c:v>
                </c:pt>
                <c:pt idx="11">
                  <c:v>50</c:v>
                </c:pt>
                <c:pt idx="12">
                  <c:v>100</c:v>
                </c:pt>
                <c:pt idx="13">
                  <c:v>150</c:v>
                </c:pt>
                <c:pt idx="14">
                  <c:v>50</c:v>
                </c:pt>
                <c:pt idx="15">
                  <c:v>100</c:v>
                </c:pt>
                <c:pt idx="16">
                  <c:v>150</c:v>
                </c:pt>
                <c:pt idx="17">
                  <c:v>50</c:v>
                </c:pt>
                <c:pt idx="18">
                  <c:v>100</c:v>
                </c:pt>
                <c:pt idx="19">
                  <c:v>150</c:v>
                </c:pt>
                <c:pt idx="20">
                  <c:v>50</c:v>
                </c:pt>
                <c:pt idx="21">
                  <c:v>100</c:v>
                </c:pt>
                <c:pt idx="22">
                  <c:v>150</c:v>
                </c:pt>
                <c:pt idx="23">
                  <c:v>50</c:v>
                </c:pt>
                <c:pt idx="24">
                  <c:v>100</c:v>
                </c:pt>
                <c:pt idx="25">
                  <c:v>150</c:v>
                </c:pt>
                <c:pt idx="26">
                  <c:v>100</c:v>
                </c:pt>
              </c:numCache>
            </c:numRef>
          </c:xVal>
          <c:yVal>
            <c:numRef>
              <c:f>powder_features!$Q$2:$Q$28</c:f>
              <c:numCache>
                <c:formatCode>General</c:formatCode>
                <c:ptCount val="27"/>
                <c:pt idx="0">
                  <c:v>4.3801341156747604</c:v>
                </c:pt>
                <c:pt idx="1">
                  <c:v>4.1498790271233901</c:v>
                </c:pt>
                <c:pt idx="2">
                  <c:v>4.52135157545605</c:v>
                </c:pt>
                <c:pt idx="3">
                  <c:v>4.3676172294475597</c:v>
                </c:pt>
                <c:pt idx="4">
                  <c:v>4.3395341313490698</c:v>
                </c:pt>
                <c:pt idx="5">
                  <c:v>4.0730172052035201</c:v>
                </c:pt>
                <c:pt idx="6">
                  <c:v>4.1544153441729099</c:v>
                </c:pt>
                <c:pt idx="7">
                  <c:v>4.5931401537551704</c:v>
                </c:pt>
                <c:pt idx="8">
                  <c:v>4.5330686019444002</c:v>
                </c:pt>
                <c:pt idx="9">
                  <c:v>4.43989005736137</c:v>
                </c:pt>
                <c:pt idx="10">
                  <c:v>4.4567099567099504</c:v>
                </c:pt>
                <c:pt idx="11">
                  <c:v>4.2684008276677501</c:v>
                </c:pt>
                <c:pt idx="12">
                  <c:v>4.2156317578004296</c:v>
                </c:pt>
                <c:pt idx="13">
                  <c:v>4.1439771917319996</c:v>
                </c:pt>
                <c:pt idx="14">
                  <c:v>3.9555901830931002</c:v>
                </c:pt>
                <c:pt idx="15">
                  <c:v>3.8496628322094399</c:v>
                </c:pt>
                <c:pt idx="16">
                  <c:v>3.7766911165444101</c:v>
                </c:pt>
                <c:pt idx="17">
                  <c:v>5.10086476815267</c:v>
                </c:pt>
                <c:pt idx="18">
                  <c:v>4.8688915375446902</c:v>
                </c:pt>
                <c:pt idx="19">
                  <c:v>4.7544001173364601</c:v>
                </c:pt>
                <c:pt idx="20">
                  <c:v>4.6669133974833397</c:v>
                </c:pt>
                <c:pt idx="21">
                  <c:v>4.6466187050359702</c:v>
                </c:pt>
                <c:pt idx="22">
                  <c:v>4.6359654178674301</c:v>
                </c:pt>
                <c:pt idx="23">
                  <c:v>4.4025727359060696</c:v>
                </c:pt>
                <c:pt idx="24">
                  <c:v>4.3805166333047296</c:v>
                </c:pt>
                <c:pt idx="25">
                  <c:v>4.4065872302158198</c:v>
                </c:pt>
                <c:pt idx="26">
                  <c:v>4.5653782134270298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B7E-4CE3-9DB5-B6B96860D3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50246832"/>
        <c:axId val="1750245872"/>
      </c:scatterChart>
      <c:valAx>
        <c:axId val="17502468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Roller Diameter (mm)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0245872"/>
        <c:crosses val="autoZero"/>
        <c:crossBetween val="midCat"/>
      </c:valAx>
      <c:valAx>
        <c:axId val="1750245872"/>
        <c:scaling>
          <c:orientation val="minMax"/>
          <c:min val="3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Coordinate Number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024683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powder_features!$G$2:$G$28</c:f>
              <c:numCache>
                <c:formatCode>General</c:formatCode>
                <c:ptCount val="27"/>
                <c:pt idx="0">
                  <c:v>300</c:v>
                </c:pt>
                <c:pt idx="1">
                  <c:v>500</c:v>
                </c:pt>
                <c:pt idx="2">
                  <c:v>100</c:v>
                </c:pt>
                <c:pt idx="3">
                  <c:v>300</c:v>
                </c:pt>
                <c:pt idx="4">
                  <c:v>300</c:v>
                </c:pt>
                <c:pt idx="5">
                  <c:v>500</c:v>
                </c:pt>
                <c:pt idx="6">
                  <c:v>500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300</c:v>
                </c:pt>
                <c:pt idx="12">
                  <c:v>300</c:v>
                </c:pt>
                <c:pt idx="13">
                  <c:v>300</c:v>
                </c:pt>
                <c:pt idx="14">
                  <c:v>500</c:v>
                </c:pt>
                <c:pt idx="15">
                  <c:v>500</c:v>
                </c:pt>
                <c:pt idx="16">
                  <c:v>500</c:v>
                </c:pt>
                <c:pt idx="17">
                  <c:v>100</c:v>
                </c:pt>
                <c:pt idx="18">
                  <c:v>100</c:v>
                </c:pt>
                <c:pt idx="19">
                  <c:v>100</c:v>
                </c:pt>
                <c:pt idx="20">
                  <c:v>300</c:v>
                </c:pt>
                <c:pt idx="21">
                  <c:v>300</c:v>
                </c:pt>
                <c:pt idx="22">
                  <c:v>300</c:v>
                </c:pt>
                <c:pt idx="23">
                  <c:v>500</c:v>
                </c:pt>
                <c:pt idx="24">
                  <c:v>500</c:v>
                </c:pt>
                <c:pt idx="25">
                  <c:v>500</c:v>
                </c:pt>
                <c:pt idx="26">
                  <c:v>100</c:v>
                </c:pt>
              </c:numCache>
            </c:numRef>
          </c:xVal>
          <c:yVal>
            <c:numRef>
              <c:f>powder_features!$Q$2:$Q$28</c:f>
              <c:numCache>
                <c:formatCode>General</c:formatCode>
                <c:ptCount val="27"/>
                <c:pt idx="0">
                  <c:v>4.3801341156747604</c:v>
                </c:pt>
                <c:pt idx="1">
                  <c:v>4.1498790271233901</c:v>
                </c:pt>
                <c:pt idx="2">
                  <c:v>4.52135157545605</c:v>
                </c:pt>
                <c:pt idx="3">
                  <c:v>4.3676172294475597</c:v>
                </c:pt>
                <c:pt idx="4">
                  <c:v>4.3395341313490698</c:v>
                </c:pt>
                <c:pt idx="5">
                  <c:v>4.0730172052035201</c:v>
                </c:pt>
                <c:pt idx="6">
                  <c:v>4.1544153441729099</c:v>
                </c:pt>
                <c:pt idx="7">
                  <c:v>4.5931401537551704</c:v>
                </c:pt>
                <c:pt idx="8">
                  <c:v>4.5330686019444002</c:v>
                </c:pt>
                <c:pt idx="9">
                  <c:v>4.43989005736137</c:v>
                </c:pt>
                <c:pt idx="10">
                  <c:v>4.4567099567099504</c:v>
                </c:pt>
                <c:pt idx="11">
                  <c:v>4.2684008276677501</c:v>
                </c:pt>
                <c:pt idx="12">
                  <c:v>4.2156317578004296</c:v>
                </c:pt>
                <c:pt idx="13">
                  <c:v>4.1439771917319996</c:v>
                </c:pt>
                <c:pt idx="14">
                  <c:v>3.9555901830931002</c:v>
                </c:pt>
                <c:pt idx="15">
                  <c:v>3.8496628322094399</c:v>
                </c:pt>
                <c:pt idx="16">
                  <c:v>3.7766911165444101</c:v>
                </c:pt>
                <c:pt idx="17">
                  <c:v>5.10086476815267</c:v>
                </c:pt>
                <c:pt idx="18">
                  <c:v>4.8688915375446902</c:v>
                </c:pt>
                <c:pt idx="19">
                  <c:v>4.7544001173364601</c:v>
                </c:pt>
                <c:pt idx="20">
                  <c:v>4.6669133974833397</c:v>
                </c:pt>
                <c:pt idx="21">
                  <c:v>4.6466187050359702</c:v>
                </c:pt>
                <c:pt idx="22">
                  <c:v>4.6359654178674301</c:v>
                </c:pt>
                <c:pt idx="23">
                  <c:v>4.4025727359060696</c:v>
                </c:pt>
                <c:pt idx="24">
                  <c:v>4.3805166333047296</c:v>
                </c:pt>
                <c:pt idx="25">
                  <c:v>4.4065872302158198</c:v>
                </c:pt>
                <c:pt idx="26">
                  <c:v>4.5653782134270298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11A-45BC-8591-11BBF24BAC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50246832"/>
        <c:axId val="1750245872"/>
      </c:scatterChart>
      <c:valAx>
        <c:axId val="17502468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Roller Speed (mm/s)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0245872"/>
        <c:crosses val="autoZero"/>
        <c:crossBetween val="midCat"/>
      </c:valAx>
      <c:valAx>
        <c:axId val="1750245872"/>
        <c:scaling>
          <c:orientation val="minMax"/>
          <c:min val="3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Coordinate Number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024683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powder_features!$D$2:$D$28</c:f>
              <c:numCache>
                <c:formatCode>General</c:formatCode>
                <c:ptCount val="27"/>
                <c:pt idx="0">
                  <c:v>50</c:v>
                </c:pt>
                <c:pt idx="1">
                  <c:v>50</c:v>
                </c:pt>
                <c:pt idx="2">
                  <c:v>50</c:v>
                </c:pt>
                <c:pt idx="3">
                  <c:v>50</c:v>
                </c:pt>
                <c:pt idx="4">
                  <c:v>50</c:v>
                </c:pt>
                <c:pt idx="5">
                  <c:v>50</c:v>
                </c:pt>
                <c:pt idx="6">
                  <c:v>50</c:v>
                </c:pt>
                <c:pt idx="7">
                  <c:v>50</c:v>
                </c:pt>
                <c:pt idx="8">
                  <c:v>25</c:v>
                </c:pt>
                <c:pt idx="9">
                  <c:v>25</c:v>
                </c:pt>
                <c:pt idx="10">
                  <c:v>25</c:v>
                </c:pt>
                <c:pt idx="11">
                  <c:v>25</c:v>
                </c:pt>
                <c:pt idx="12">
                  <c:v>25</c:v>
                </c:pt>
                <c:pt idx="13">
                  <c:v>25</c:v>
                </c:pt>
                <c:pt idx="14">
                  <c:v>25</c:v>
                </c:pt>
                <c:pt idx="15">
                  <c:v>25</c:v>
                </c:pt>
                <c:pt idx="16">
                  <c:v>25</c:v>
                </c:pt>
                <c:pt idx="17">
                  <c:v>75</c:v>
                </c:pt>
                <c:pt idx="18">
                  <c:v>75</c:v>
                </c:pt>
                <c:pt idx="19">
                  <c:v>75</c:v>
                </c:pt>
                <c:pt idx="20">
                  <c:v>75</c:v>
                </c:pt>
                <c:pt idx="21">
                  <c:v>75</c:v>
                </c:pt>
                <c:pt idx="22">
                  <c:v>75</c:v>
                </c:pt>
                <c:pt idx="23">
                  <c:v>75</c:v>
                </c:pt>
                <c:pt idx="24">
                  <c:v>75</c:v>
                </c:pt>
                <c:pt idx="25">
                  <c:v>75</c:v>
                </c:pt>
                <c:pt idx="26">
                  <c:v>50</c:v>
                </c:pt>
              </c:numCache>
            </c:numRef>
          </c:xVal>
          <c:yVal>
            <c:numRef>
              <c:f>powder_features!$Q$2:$Q$28</c:f>
              <c:numCache>
                <c:formatCode>General</c:formatCode>
                <c:ptCount val="27"/>
                <c:pt idx="0">
                  <c:v>4.3801341156747604</c:v>
                </c:pt>
                <c:pt idx="1">
                  <c:v>4.1498790271233901</c:v>
                </c:pt>
                <c:pt idx="2">
                  <c:v>4.52135157545605</c:v>
                </c:pt>
                <c:pt idx="3">
                  <c:v>4.3676172294475597</c:v>
                </c:pt>
                <c:pt idx="4">
                  <c:v>4.3395341313490698</c:v>
                </c:pt>
                <c:pt idx="5">
                  <c:v>4.0730172052035201</c:v>
                </c:pt>
                <c:pt idx="6">
                  <c:v>4.1544153441729099</c:v>
                </c:pt>
                <c:pt idx="7">
                  <c:v>4.5931401537551704</c:v>
                </c:pt>
                <c:pt idx="8">
                  <c:v>4.5330686019444002</c:v>
                </c:pt>
                <c:pt idx="9">
                  <c:v>4.43989005736137</c:v>
                </c:pt>
                <c:pt idx="10">
                  <c:v>4.4567099567099504</c:v>
                </c:pt>
                <c:pt idx="11">
                  <c:v>4.2684008276677501</c:v>
                </c:pt>
                <c:pt idx="12">
                  <c:v>4.2156317578004296</c:v>
                </c:pt>
                <c:pt idx="13">
                  <c:v>4.1439771917319996</c:v>
                </c:pt>
                <c:pt idx="14">
                  <c:v>3.9555901830931002</c:v>
                </c:pt>
                <c:pt idx="15">
                  <c:v>3.8496628322094399</c:v>
                </c:pt>
                <c:pt idx="16">
                  <c:v>3.7766911165444101</c:v>
                </c:pt>
                <c:pt idx="17">
                  <c:v>5.10086476815267</c:v>
                </c:pt>
                <c:pt idx="18">
                  <c:v>4.8688915375446902</c:v>
                </c:pt>
                <c:pt idx="19">
                  <c:v>4.7544001173364601</c:v>
                </c:pt>
                <c:pt idx="20">
                  <c:v>4.6669133974833397</c:v>
                </c:pt>
                <c:pt idx="21">
                  <c:v>4.6466187050359702</c:v>
                </c:pt>
                <c:pt idx="22">
                  <c:v>4.6359654178674301</c:v>
                </c:pt>
                <c:pt idx="23">
                  <c:v>4.4025727359060696</c:v>
                </c:pt>
                <c:pt idx="24">
                  <c:v>4.3805166333047296</c:v>
                </c:pt>
                <c:pt idx="25">
                  <c:v>4.4065872302158198</c:v>
                </c:pt>
                <c:pt idx="26">
                  <c:v>4.5653782134270298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696-49F6-A954-E885BA7C07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50246832"/>
        <c:axId val="1750245872"/>
      </c:scatterChart>
      <c:valAx>
        <c:axId val="17502468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% small particle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0245872"/>
        <c:crosses val="autoZero"/>
        <c:crossBetween val="midCat"/>
        <c:majorUnit val="25"/>
      </c:valAx>
      <c:valAx>
        <c:axId val="1750245872"/>
        <c:scaling>
          <c:orientation val="minMax"/>
          <c:min val="3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Coordinate Number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024683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powder_features!$R$1</c:f>
              <c:strCache>
                <c:ptCount val="1"/>
                <c:pt idx="0">
                  <c:v>coordination_number_variance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powder_features!$G$2:$G$28</c:f>
              <c:numCache>
                <c:formatCode>General</c:formatCode>
                <c:ptCount val="27"/>
                <c:pt idx="0">
                  <c:v>300</c:v>
                </c:pt>
                <c:pt idx="1">
                  <c:v>500</c:v>
                </c:pt>
                <c:pt idx="2">
                  <c:v>100</c:v>
                </c:pt>
                <c:pt idx="3">
                  <c:v>300</c:v>
                </c:pt>
                <c:pt idx="4">
                  <c:v>300</c:v>
                </c:pt>
                <c:pt idx="5">
                  <c:v>500</c:v>
                </c:pt>
                <c:pt idx="6">
                  <c:v>500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300</c:v>
                </c:pt>
                <c:pt idx="12">
                  <c:v>300</c:v>
                </c:pt>
                <c:pt idx="13">
                  <c:v>300</c:v>
                </c:pt>
                <c:pt idx="14">
                  <c:v>500</c:v>
                </c:pt>
                <c:pt idx="15">
                  <c:v>500</c:v>
                </c:pt>
                <c:pt idx="16">
                  <c:v>500</c:v>
                </c:pt>
                <c:pt idx="17">
                  <c:v>100</c:v>
                </c:pt>
                <c:pt idx="18">
                  <c:v>100</c:v>
                </c:pt>
                <c:pt idx="19">
                  <c:v>100</c:v>
                </c:pt>
                <c:pt idx="20">
                  <c:v>300</c:v>
                </c:pt>
                <c:pt idx="21">
                  <c:v>300</c:v>
                </c:pt>
                <c:pt idx="22">
                  <c:v>300</c:v>
                </c:pt>
                <c:pt idx="23">
                  <c:v>500</c:v>
                </c:pt>
                <c:pt idx="24">
                  <c:v>500</c:v>
                </c:pt>
                <c:pt idx="25">
                  <c:v>500</c:v>
                </c:pt>
                <c:pt idx="26">
                  <c:v>100</c:v>
                </c:pt>
              </c:numCache>
            </c:numRef>
          </c:xVal>
          <c:yVal>
            <c:numRef>
              <c:f>powder_features!$R$2:$R$28</c:f>
              <c:numCache>
                <c:formatCode>General</c:formatCode>
                <c:ptCount val="27"/>
                <c:pt idx="0">
                  <c:v>5.0551348241476504</c:v>
                </c:pt>
                <c:pt idx="1">
                  <c:v>4.729732889988</c:v>
                </c:pt>
                <c:pt idx="2">
                  <c:v>4.3554728001094496</c:v>
                </c:pt>
                <c:pt idx="3">
                  <c:v>5.1039698503844404</c:v>
                </c:pt>
                <c:pt idx="4">
                  <c:v>5.2562791747489896</c:v>
                </c:pt>
                <c:pt idx="5">
                  <c:v>4.9240292374994699</c:v>
                </c:pt>
                <c:pt idx="6">
                  <c:v>4.8002236650902299</c:v>
                </c:pt>
                <c:pt idx="7">
                  <c:v>4.5099740627257603</c:v>
                </c:pt>
                <c:pt idx="8">
                  <c:v>3.6981738919115998</c:v>
                </c:pt>
                <c:pt idx="9">
                  <c:v>3.7067118425971199</c:v>
                </c:pt>
                <c:pt idx="10">
                  <c:v>3.7189688547595301</c:v>
                </c:pt>
                <c:pt idx="11">
                  <c:v>3.9173195532006102</c:v>
                </c:pt>
                <c:pt idx="12">
                  <c:v>3.8929530531526999</c:v>
                </c:pt>
                <c:pt idx="13">
                  <c:v>4.2358635832288902</c:v>
                </c:pt>
                <c:pt idx="14">
                  <c:v>3.60690973154367</c:v>
                </c:pt>
                <c:pt idx="15">
                  <c:v>3.9111551818355301</c:v>
                </c:pt>
                <c:pt idx="16">
                  <c:v>4.0870524579732397</c:v>
                </c:pt>
                <c:pt idx="17">
                  <c:v>5.8743499305717402</c:v>
                </c:pt>
                <c:pt idx="18">
                  <c:v>5.0784601539093099</c:v>
                </c:pt>
                <c:pt idx="19">
                  <c:v>5.7330951886887496</c:v>
                </c:pt>
                <c:pt idx="20">
                  <c:v>5.7717739336958198</c:v>
                </c:pt>
                <c:pt idx="21">
                  <c:v>5.7465844901057501</c:v>
                </c:pt>
                <c:pt idx="22">
                  <c:v>5.7150868921758304</c:v>
                </c:pt>
                <c:pt idx="23">
                  <c:v>5.3179490056522498</c:v>
                </c:pt>
                <c:pt idx="24">
                  <c:v>5.2764252787958696</c:v>
                </c:pt>
                <c:pt idx="25">
                  <c:v>5.4710402414916004</c:v>
                </c:pt>
                <c:pt idx="26">
                  <c:v>4.3724133163590704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BB9-425F-AB36-59F627F1D1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04133872"/>
        <c:axId val="1704131472"/>
      </c:scatterChart>
      <c:valAx>
        <c:axId val="17041338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roller speed (mm/s)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4131472"/>
        <c:crosses val="autoZero"/>
        <c:crossBetween val="midCat"/>
      </c:valAx>
      <c:valAx>
        <c:axId val="17041314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Coordiante Number  variance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413387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powder_features!$R$1</c:f>
              <c:strCache>
                <c:ptCount val="1"/>
                <c:pt idx="0">
                  <c:v>coordination_number_variance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powder_features!$I$2:$I$28</c:f>
              <c:numCache>
                <c:formatCode>General</c:formatCode>
                <c:ptCount val="27"/>
                <c:pt idx="0">
                  <c:v>100</c:v>
                </c:pt>
                <c:pt idx="1">
                  <c:v>50</c:v>
                </c:pt>
                <c:pt idx="2">
                  <c:v>150</c:v>
                </c:pt>
                <c:pt idx="3">
                  <c:v>50</c:v>
                </c:pt>
                <c:pt idx="4">
                  <c:v>150</c:v>
                </c:pt>
                <c:pt idx="5">
                  <c:v>100</c:v>
                </c:pt>
                <c:pt idx="6">
                  <c:v>150</c:v>
                </c:pt>
                <c:pt idx="7">
                  <c:v>50</c:v>
                </c:pt>
                <c:pt idx="8">
                  <c:v>50</c:v>
                </c:pt>
                <c:pt idx="9">
                  <c:v>100</c:v>
                </c:pt>
                <c:pt idx="10">
                  <c:v>150</c:v>
                </c:pt>
                <c:pt idx="11">
                  <c:v>50</c:v>
                </c:pt>
                <c:pt idx="12">
                  <c:v>100</c:v>
                </c:pt>
                <c:pt idx="13">
                  <c:v>150</c:v>
                </c:pt>
                <c:pt idx="14">
                  <c:v>50</c:v>
                </c:pt>
                <c:pt idx="15">
                  <c:v>100</c:v>
                </c:pt>
                <c:pt idx="16">
                  <c:v>150</c:v>
                </c:pt>
                <c:pt idx="17">
                  <c:v>50</c:v>
                </c:pt>
                <c:pt idx="18">
                  <c:v>100</c:v>
                </c:pt>
                <c:pt idx="19">
                  <c:v>150</c:v>
                </c:pt>
                <c:pt idx="20">
                  <c:v>50</c:v>
                </c:pt>
                <c:pt idx="21">
                  <c:v>100</c:v>
                </c:pt>
                <c:pt idx="22">
                  <c:v>150</c:v>
                </c:pt>
                <c:pt idx="23">
                  <c:v>50</c:v>
                </c:pt>
                <c:pt idx="24">
                  <c:v>100</c:v>
                </c:pt>
                <c:pt idx="25">
                  <c:v>150</c:v>
                </c:pt>
                <c:pt idx="26">
                  <c:v>100</c:v>
                </c:pt>
              </c:numCache>
            </c:numRef>
          </c:xVal>
          <c:yVal>
            <c:numRef>
              <c:f>powder_features!$R$2:$R$28</c:f>
              <c:numCache>
                <c:formatCode>General</c:formatCode>
                <c:ptCount val="27"/>
                <c:pt idx="0">
                  <c:v>5.0551348241476504</c:v>
                </c:pt>
                <c:pt idx="1">
                  <c:v>4.729732889988</c:v>
                </c:pt>
                <c:pt idx="2">
                  <c:v>4.3554728001094496</c:v>
                </c:pt>
                <c:pt idx="3">
                  <c:v>5.1039698503844404</c:v>
                </c:pt>
                <c:pt idx="4">
                  <c:v>5.2562791747489896</c:v>
                </c:pt>
                <c:pt idx="5">
                  <c:v>4.9240292374994699</c:v>
                </c:pt>
                <c:pt idx="6">
                  <c:v>4.8002236650902299</c:v>
                </c:pt>
                <c:pt idx="7">
                  <c:v>4.5099740627257603</c:v>
                </c:pt>
                <c:pt idx="8">
                  <c:v>3.6981738919115998</c:v>
                </c:pt>
                <c:pt idx="9">
                  <c:v>3.7067118425971199</c:v>
                </c:pt>
                <c:pt idx="10">
                  <c:v>3.7189688547595301</c:v>
                </c:pt>
                <c:pt idx="11">
                  <c:v>3.9173195532006102</c:v>
                </c:pt>
                <c:pt idx="12">
                  <c:v>3.8929530531526999</c:v>
                </c:pt>
                <c:pt idx="13">
                  <c:v>4.2358635832288902</c:v>
                </c:pt>
                <c:pt idx="14">
                  <c:v>3.60690973154367</c:v>
                </c:pt>
                <c:pt idx="15">
                  <c:v>3.9111551818355301</c:v>
                </c:pt>
                <c:pt idx="16">
                  <c:v>4.0870524579732397</c:v>
                </c:pt>
                <c:pt idx="17">
                  <c:v>5.8743499305717402</c:v>
                </c:pt>
                <c:pt idx="18">
                  <c:v>5.0784601539093099</c:v>
                </c:pt>
                <c:pt idx="19">
                  <c:v>5.7330951886887496</c:v>
                </c:pt>
                <c:pt idx="20">
                  <c:v>5.7717739336958198</c:v>
                </c:pt>
                <c:pt idx="21">
                  <c:v>5.7465844901057501</c:v>
                </c:pt>
                <c:pt idx="22">
                  <c:v>5.7150868921758304</c:v>
                </c:pt>
                <c:pt idx="23">
                  <c:v>5.3179490056522498</c:v>
                </c:pt>
                <c:pt idx="24">
                  <c:v>5.2764252787958696</c:v>
                </c:pt>
                <c:pt idx="25">
                  <c:v>5.4710402414916004</c:v>
                </c:pt>
                <c:pt idx="26">
                  <c:v>4.3724133163590704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083-49FC-860D-0E0D21363C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04133872"/>
        <c:axId val="1704131472"/>
      </c:scatterChart>
      <c:valAx>
        <c:axId val="17041338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roller size (mm)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4131472"/>
        <c:crosses val="autoZero"/>
        <c:crossBetween val="midCat"/>
      </c:valAx>
      <c:valAx>
        <c:axId val="17041314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Coordiante Number  variance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413387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powder_features!$R$1</c:f>
              <c:strCache>
                <c:ptCount val="1"/>
                <c:pt idx="0">
                  <c:v>coordination_number_variance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powder_features!$D$2:$D$28</c:f>
              <c:numCache>
                <c:formatCode>General</c:formatCode>
                <c:ptCount val="27"/>
                <c:pt idx="0">
                  <c:v>50</c:v>
                </c:pt>
                <c:pt idx="1">
                  <c:v>50</c:v>
                </c:pt>
                <c:pt idx="2">
                  <c:v>50</c:v>
                </c:pt>
                <c:pt idx="3">
                  <c:v>50</c:v>
                </c:pt>
                <c:pt idx="4">
                  <c:v>50</c:v>
                </c:pt>
                <c:pt idx="5">
                  <c:v>50</c:v>
                </c:pt>
                <c:pt idx="6">
                  <c:v>50</c:v>
                </c:pt>
                <c:pt idx="7">
                  <c:v>50</c:v>
                </c:pt>
                <c:pt idx="8">
                  <c:v>25</c:v>
                </c:pt>
                <c:pt idx="9">
                  <c:v>25</c:v>
                </c:pt>
                <c:pt idx="10">
                  <c:v>25</c:v>
                </c:pt>
                <c:pt idx="11">
                  <c:v>25</c:v>
                </c:pt>
                <c:pt idx="12">
                  <c:v>25</c:v>
                </c:pt>
                <c:pt idx="13">
                  <c:v>25</c:v>
                </c:pt>
                <c:pt idx="14">
                  <c:v>25</c:v>
                </c:pt>
                <c:pt idx="15">
                  <c:v>25</c:v>
                </c:pt>
                <c:pt idx="16">
                  <c:v>25</c:v>
                </c:pt>
                <c:pt idx="17">
                  <c:v>75</c:v>
                </c:pt>
                <c:pt idx="18">
                  <c:v>75</c:v>
                </c:pt>
                <c:pt idx="19">
                  <c:v>75</c:v>
                </c:pt>
                <c:pt idx="20">
                  <c:v>75</c:v>
                </c:pt>
                <c:pt idx="21">
                  <c:v>75</c:v>
                </c:pt>
                <c:pt idx="22">
                  <c:v>75</c:v>
                </c:pt>
                <c:pt idx="23">
                  <c:v>75</c:v>
                </c:pt>
                <c:pt idx="24">
                  <c:v>75</c:v>
                </c:pt>
                <c:pt idx="25">
                  <c:v>75</c:v>
                </c:pt>
                <c:pt idx="26">
                  <c:v>50</c:v>
                </c:pt>
              </c:numCache>
            </c:numRef>
          </c:xVal>
          <c:yVal>
            <c:numRef>
              <c:f>powder_features!$R$2:$R$28</c:f>
              <c:numCache>
                <c:formatCode>General</c:formatCode>
                <c:ptCount val="27"/>
                <c:pt idx="0">
                  <c:v>5.0551348241476504</c:v>
                </c:pt>
                <c:pt idx="1">
                  <c:v>4.729732889988</c:v>
                </c:pt>
                <c:pt idx="2">
                  <c:v>4.3554728001094496</c:v>
                </c:pt>
                <c:pt idx="3">
                  <c:v>5.1039698503844404</c:v>
                </c:pt>
                <c:pt idx="4">
                  <c:v>5.2562791747489896</c:v>
                </c:pt>
                <c:pt idx="5">
                  <c:v>4.9240292374994699</c:v>
                </c:pt>
                <c:pt idx="6">
                  <c:v>4.8002236650902299</c:v>
                </c:pt>
                <c:pt idx="7">
                  <c:v>4.5099740627257603</c:v>
                </c:pt>
                <c:pt idx="8">
                  <c:v>3.6981738919115998</c:v>
                </c:pt>
                <c:pt idx="9">
                  <c:v>3.7067118425971199</c:v>
                </c:pt>
                <c:pt idx="10">
                  <c:v>3.7189688547595301</c:v>
                </c:pt>
                <c:pt idx="11">
                  <c:v>3.9173195532006102</c:v>
                </c:pt>
                <c:pt idx="12">
                  <c:v>3.8929530531526999</c:v>
                </c:pt>
                <c:pt idx="13">
                  <c:v>4.2358635832288902</c:v>
                </c:pt>
                <c:pt idx="14">
                  <c:v>3.60690973154367</c:v>
                </c:pt>
                <c:pt idx="15">
                  <c:v>3.9111551818355301</c:v>
                </c:pt>
                <c:pt idx="16">
                  <c:v>4.0870524579732397</c:v>
                </c:pt>
                <c:pt idx="17">
                  <c:v>5.8743499305717402</c:v>
                </c:pt>
                <c:pt idx="18">
                  <c:v>5.0784601539093099</c:v>
                </c:pt>
                <c:pt idx="19">
                  <c:v>5.7330951886887496</c:v>
                </c:pt>
                <c:pt idx="20">
                  <c:v>5.7717739336958198</c:v>
                </c:pt>
                <c:pt idx="21">
                  <c:v>5.7465844901057501</c:v>
                </c:pt>
                <c:pt idx="22">
                  <c:v>5.7150868921758304</c:v>
                </c:pt>
                <c:pt idx="23">
                  <c:v>5.3179490056522498</c:v>
                </c:pt>
                <c:pt idx="24">
                  <c:v>5.2764252787958696</c:v>
                </c:pt>
                <c:pt idx="25">
                  <c:v>5.4710402414916004</c:v>
                </c:pt>
                <c:pt idx="26">
                  <c:v>4.3724133163590704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26F-4423-8882-A3CE1EA7CE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04133872"/>
        <c:axId val="1704131472"/>
      </c:scatterChart>
      <c:valAx>
        <c:axId val="17041338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% small powder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4131472"/>
        <c:crosses val="autoZero"/>
        <c:crossBetween val="midCat"/>
        <c:majorUnit val="25"/>
      </c:valAx>
      <c:valAx>
        <c:axId val="17041314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Coordiante Number  variance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413387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powder_features!$D$2:$D$28</c:f>
              <c:numCache>
                <c:formatCode>General</c:formatCode>
                <c:ptCount val="27"/>
                <c:pt idx="0">
                  <c:v>50</c:v>
                </c:pt>
                <c:pt idx="1">
                  <c:v>50</c:v>
                </c:pt>
                <c:pt idx="2">
                  <c:v>50</c:v>
                </c:pt>
                <c:pt idx="3">
                  <c:v>50</c:v>
                </c:pt>
                <c:pt idx="4">
                  <c:v>50</c:v>
                </c:pt>
                <c:pt idx="5">
                  <c:v>50</c:v>
                </c:pt>
                <c:pt idx="6">
                  <c:v>50</c:v>
                </c:pt>
                <c:pt idx="7">
                  <c:v>50</c:v>
                </c:pt>
                <c:pt idx="8">
                  <c:v>25</c:v>
                </c:pt>
                <c:pt idx="9">
                  <c:v>25</c:v>
                </c:pt>
                <c:pt idx="10">
                  <c:v>25</c:v>
                </c:pt>
                <c:pt idx="11">
                  <c:v>25</c:v>
                </c:pt>
                <c:pt idx="12">
                  <c:v>25</c:v>
                </c:pt>
                <c:pt idx="13">
                  <c:v>25</c:v>
                </c:pt>
                <c:pt idx="14">
                  <c:v>25</c:v>
                </c:pt>
                <c:pt idx="15">
                  <c:v>25</c:v>
                </c:pt>
                <c:pt idx="16">
                  <c:v>25</c:v>
                </c:pt>
                <c:pt idx="17">
                  <c:v>75</c:v>
                </c:pt>
                <c:pt idx="18">
                  <c:v>75</c:v>
                </c:pt>
                <c:pt idx="19">
                  <c:v>75</c:v>
                </c:pt>
                <c:pt idx="20">
                  <c:v>75</c:v>
                </c:pt>
                <c:pt idx="21">
                  <c:v>75</c:v>
                </c:pt>
                <c:pt idx="22">
                  <c:v>75</c:v>
                </c:pt>
                <c:pt idx="23">
                  <c:v>75</c:v>
                </c:pt>
                <c:pt idx="24">
                  <c:v>75</c:v>
                </c:pt>
                <c:pt idx="25">
                  <c:v>75</c:v>
                </c:pt>
                <c:pt idx="26">
                  <c:v>50</c:v>
                </c:pt>
              </c:numCache>
            </c:numRef>
          </c:xVal>
          <c:yVal>
            <c:numRef>
              <c:f>powder_features!$N$2:$N$28</c:f>
              <c:numCache>
                <c:formatCode>General</c:formatCode>
                <c:ptCount val="27"/>
                <c:pt idx="0">
                  <c:v>0.59260562179970599</c:v>
                </c:pt>
                <c:pt idx="1">
                  <c:v>0.58369885216436801</c:v>
                </c:pt>
                <c:pt idx="2">
                  <c:v>0.58607042270051102</c:v>
                </c:pt>
                <c:pt idx="3">
                  <c:v>0.58937059686003801</c:v>
                </c:pt>
                <c:pt idx="4">
                  <c:v>0.59457365927138295</c:v>
                </c:pt>
                <c:pt idx="5">
                  <c:v>0.57658878569431704</c:v>
                </c:pt>
                <c:pt idx="6">
                  <c:v>0.58085317398910696</c:v>
                </c:pt>
                <c:pt idx="7">
                  <c:v>0.59556769614805105</c:v>
                </c:pt>
                <c:pt idx="8">
                  <c:v>0.59138419659262897</c:v>
                </c:pt>
                <c:pt idx="9">
                  <c:v>0.58728365421999995</c:v>
                </c:pt>
                <c:pt idx="10">
                  <c:v>0.58331561888768502</c:v>
                </c:pt>
                <c:pt idx="11">
                  <c:v>0.58847359759968598</c:v>
                </c:pt>
                <c:pt idx="12">
                  <c:v>0.58288866584195398</c:v>
                </c:pt>
                <c:pt idx="13">
                  <c:v>0.58758785057812701</c:v>
                </c:pt>
                <c:pt idx="14">
                  <c:v>0.56592220444855901</c:v>
                </c:pt>
                <c:pt idx="15">
                  <c:v>0.55751440150333498</c:v>
                </c:pt>
                <c:pt idx="16">
                  <c:v>0.55646472641936295</c:v>
                </c:pt>
                <c:pt idx="17">
                  <c:v>0.61222335888003998</c:v>
                </c:pt>
                <c:pt idx="18">
                  <c:v>0.59677544582131503</c:v>
                </c:pt>
                <c:pt idx="19">
                  <c:v>0.60097933944340998</c:v>
                </c:pt>
                <c:pt idx="20">
                  <c:v>0.59744984156745995</c:v>
                </c:pt>
                <c:pt idx="21">
                  <c:v>0.59767670412076002</c:v>
                </c:pt>
                <c:pt idx="22">
                  <c:v>0.59566609802963399</c:v>
                </c:pt>
                <c:pt idx="23">
                  <c:v>0.58034476268385304</c:v>
                </c:pt>
                <c:pt idx="24">
                  <c:v>0.58101955404462802</c:v>
                </c:pt>
                <c:pt idx="25">
                  <c:v>0.58062882164240004</c:v>
                </c:pt>
                <c:pt idx="26">
                  <c:v>0.58989301700498198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E69-402F-8636-DD185EDC78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50246832"/>
        <c:axId val="1750245872"/>
      </c:scatterChart>
      <c:valAx>
        <c:axId val="17502468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% small powder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0245872"/>
        <c:crosses val="autoZero"/>
        <c:crossBetween val="midCat"/>
        <c:majorUnit val="25"/>
      </c:valAx>
      <c:valAx>
        <c:axId val="1750245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Solid Fraction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024683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powder_features!$G$2:$G$28</c:f>
              <c:numCache>
                <c:formatCode>General</c:formatCode>
                <c:ptCount val="27"/>
                <c:pt idx="0">
                  <c:v>300</c:v>
                </c:pt>
                <c:pt idx="1">
                  <c:v>500</c:v>
                </c:pt>
                <c:pt idx="2">
                  <c:v>100</c:v>
                </c:pt>
                <c:pt idx="3">
                  <c:v>300</c:v>
                </c:pt>
                <c:pt idx="4">
                  <c:v>300</c:v>
                </c:pt>
                <c:pt idx="5">
                  <c:v>500</c:v>
                </c:pt>
                <c:pt idx="6">
                  <c:v>500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300</c:v>
                </c:pt>
                <c:pt idx="12">
                  <c:v>300</c:v>
                </c:pt>
                <c:pt idx="13">
                  <c:v>300</c:v>
                </c:pt>
                <c:pt idx="14">
                  <c:v>500</c:v>
                </c:pt>
                <c:pt idx="15">
                  <c:v>500</c:v>
                </c:pt>
                <c:pt idx="16">
                  <c:v>500</c:v>
                </c:pt>
                <c:pt idx="17">
                  <c:v>100</c:v>
                </c:pt>
                <c:pt idx="18">
                  <c:v>100</c:v>
                </c:pt>
                <c:pt idx="19">
                  <c:v>100</c:v>
                </c:pt>
                <c:pt idx="20">
                  <c:v>300</c:v>
                </c:pt>
                <c:pt idx="21">
                  <c:v>300</c:v>
                </c:pt>
                <c:pt idx="22">
                  <c:v>300</c:v>
                </c:pt>
                <c:pt idx="23">
                  <c:v>500</c:v>
                </c:pt>
                <c:pt idx="24">
                  <c:v>500</c:v>
                </c:pt>
                <c:pt idx="25">
                  <c:v>500</c:v>
                </c:pt>
                <c:pt idx="26">
                  <c:v>100</c:v>
                </c:pt>
              </c:numCache>
            </c:numRef>
          </c:xVal>
          <c:yVal>
            <c:numRef>
              <c:f>powder_features!$N$2:$N$28</c:f>
              <c:numCache>
                <c:formatCode>General</c:formatCode>
                <c:ptCount val="27"/>
                <c:pt idx="0">
                  <c:v>0.59260562179970599</c:v>
                </c:pt>
                <c:pt idx="1">
                  <c:v>0.58369885216436801</c:v>
                </c:pt>
                <c:pt idx="2">
                  <c:v>0.58607042270051102</c:v>
                </c:pt>
                <c:pt idx="3">
                  <c:v>0.58937059686003801</c:v>
                </c:pt>
                <c:pt idx="4">
                  <c:v>0.59457365927138295</c:v>
                </c:pt>
                <c:pt idx="5">
                  <c:v>0.57658878569431704</c:v>
                </c:pt>
                <c:pt idx="6">
                  <c:v>0.58085317398910696</c:v>
                </c:pt>
                <c:pt idx="7">
                  <c:v>0.59556769614805105</c:v>
                </c:pt>
                <c:pt idx="8">
                  <c:v>0.59138419659262897</c:v>
                </c:pt>
                <c:pt idx="9">
                  <c:v>0.58728365421999995</c:v>
                </c:pt>
                <c:pt idx="10">
                  <c:v>0.58331561888768502</c:v>
                </c:pt>
                <c:pt idx="11">
                  <c:v>0.58847359759968598</c:v>
                </c:pt>
                <c:pt idx="12">
                  <c:v>0.58288866584195398</c:v>
                </c:pt>
                <c:pt idx="13">
                  <c:v>0.58758785057812701</c:v>
                </c:pt>
                <c:pt idx="14">
                  <c:v>0.56592220444855901</c:v>
                </c:pt>
                <c:pt idx="15">
                  <c:v>0.55751440150333498</c:v>
                </c:pt>
                <c:pt idx="16">
                  <c:v>0.55646472641936295</c:v>
                </c:pt>
                <c:pt idx="17">
                  <c:v>0.61222335888003998</c:v>
                </c:pt>
                <c:pt idx="18">
                  <c:v>0.59677544582131503</c:v>
                </c:pt>
                <c:pt idx="19">
                  <c:v>0.60097933944340998</c:v>
                </c:pt>
                <c:pt idx="20">
                  <c:v>0.59744984156745995</c:v>
                </c:pt>
                <c:pt idx="21">
                  <c:v>0.59767670412076002</c:v>
                </c:pt>
                <c:pt idx="22">
                  <c:v>0.59566609802963399</c:v>
                </c:pt>
                <c:pt idx="23">
                  <c:v>0.58034476268385304</c:v>
                </c:pt>
                <c:pt idx="24">
                  <c:v>0.58101955404462802</c:v>
                </c:pt>
                <c:pt idx="25">
                  <c:v>0.58062882164240004</c:v>
                </c:pt>
                <c:pt idx="26">
                  <c:v>0.58989301700498198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340-4A2A-9329-1CF35BB64A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50246832"/>
        <c:axId val="1750245872"/>
      </c:scatterChart>
      <c:valAx>
        <c:axId val="17502468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Roller</a:t>
                </a:r>
                <a:r>
                  <a:rPr lang="en-US" baseline="0" dirty="0"/>
                  <a:t> Speed (mm/s)</a:t>
                </a:r>
                <a:endParaRPr 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0245872"/>
        <c:crosses val="autoZero"/>
        <c:crossBetween val="midCat"/>
      </c:valAx>
      <c:valAx>
        <c:axId val="1750245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Solid Fraction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024683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powder_features!$I$2:$I$28</c:f>
              <c:numCache>
                <c:formatCode>General</c:formatCode>
                <c:ptCount val="27"/>
                <c:pt idx="0">
                  <c:v>100</c:v>
                </c:pt>
                <c:pt idx="1">
                  <c:v>50</c:v>
                </c:pt>
                <c:pt idx="2">
                  <c:v>150</c:v>
                </c:pt>
                <c:pt idx="3">
                  <c:v>50</c:v>
                </c:pt>
                <c:pt idx="4">
                  <c:v>150</c:v>
                </c:pt>
                <c:pt idx="5">
                  <c:v>100</c:v>
                </c:pt>
                <c:pt idx="6">
                  <c:v>150</c:v>
                </c:pt>
                <c:pt idx="7">
                  <c:v>50</c:v>
                </c:pt>
                <c:pt idx="8">
                  <c:v>50</c:v>
                </c:pt>
                <c:pt idx="9">
                  <c:v>100</c:v>
                </c:pt>
                <c:pt idx="10">
                  <c:v>150</c:v>
                </c:pt>
                <c:pt idx="11">
                  <c:v>50</c:v>
                </c:pt>
                <c:pt idx="12">
                  <c:v>100</c:v>
                </c:pt>
                <c:pt idx="13">
                  <c:v>150</c:v>
                </c:pt>
                <c:pt idx="14">
                  <c:v>50</c:v>
                </c:pt>
                <c:pt idx="15">
                  <c:v>100</c:v>
                </c:pt>
                <c:pt idx="16">
                  <c:v>150</c:v>
                </c:pt>
                <c:pt idx="17">
                  <c:v>50</c:v>
                </c:pt>
                <c:pt idx="18">
                  <c:v>100</c:v>
                </c:pt>
                <c:pt idx="19">
                  <c:v>150</c:v>
                </c:pt>
                <c:pt idx="20">
                  <c:v>50</c:v>
                </c:pt>
                <c:pt idx="21">
                  <c:v>100</c:v>
                </c:pt>
                <c:pt idx="22">
                  <c:v>150</c:v>
                </c:pt>
                <c:pt idx="23">
                  <c:v>50</c:v>
                </c:pt>
                <c:pt idx="24">
                  <c:v>100</c:v>
                </c:pt>
                <c:pt idx="25">
                  <c:v>150</c:v>
                </c:pt>
                <c:pt idx="26">
                  <c:v>100</c:v>
                </c:pt>
              </c:numCache>
            </c:numRef>
          </c:xVal>
          <c:yVal>
            <c:numRef>
              <c:f>powder_features!$N$2:$N$28</c:f>
              <c:numCache>
                <c:formatCode>General</c:formatCode>
                <c:ptCount val="27"/>
                <c:pt idx="0">
                  <c:v>0.59260562179970599</c:v>
                </c:pt>
                <c:pt idx="1">
                  <c:v>0.58369885216436801</c:v>
                </c:pt>
                <c:pt idx="2">
                  <c:v>0.58607042270051102</c:v>
                </c:pt>
                <c:pt idx="3">
                  <c:v>0.58937059686003801</c:v>
                </c:pt>
                <c:pt idx="4">
                  <c:v>0.59457365927138295</c:v>
                </c:pt>
                <c:pt idx="5">
                  <c:v>0.57658878569431704</c:v>
                </c:pt>
                <c:pt idx="6">
                  <c:v>0.58085317398910696</c:v>
                </c:pt>
                <c:pt idx="7">
                  <c:v>0.59556769614805105</c:v>
                </c:pt>
                <c:pt idx="8">
                  <c:v>0.59138419659262897</c:v>
                </c:pt>
                <c:pt idx="9">
                  <c:v>0.58728365421999995</c:v>
                </c:pt>
                <c:pt idx="10">
                  <c:v>0.58331561888768502</c:v>
                </c:pt>
                <c:pt idx="11">
                  <c:v>0.58847359759968598</c:v>
                </c:pt>
                <c:pt idx="12">
                  <c:v>0.58288866584195398</c:v>
                </c:pt>
                <c:pt idx="13">
                  <c:v>0.58758785057812701</c:v>
                </c:pt>
                <c:pt idx="14">
                  <c:v>0.56592220444855901</c:v>
                </c:pt>
                <c:pt idx="15">
                  <c:v>0.55751440150333498</c:v>
                </c:pt>
                <c:pt idx="16">
                  <c:v>0.55646472641936295</c:v>
                </c:pt>
                <c:pt idx="17">
                  <c:v>0.61222335888003998</c:v>
                </c:pt>
                <c:pt idx="18">
                  <c:v>0.59677544582131503</c:v>
                </c:pt>
                <c:pt idx="19">
                  <c:v>0.60097933944340998</c:v>
                </c:pt>
                <c:pt idx="20">
                  <c:v>0.59744984156745995</c:v>
                </c:pt>
                <c:pt idx="21">
                  <c:v>0.59767670412076002</c:v>
                </c:pt>
                <c:pt idx="22">
                  <c:v>0.59566609802963399</c:v>
                </c:pt>
                <c:pt idx="23">
                  <c:v>0.58034476268385304</c:v>
                </c:pt>
                <c:pt idx="24">
                  <c:v>0.58101955404462802</c:v>
                </c:pt>
                <c:pt idx="25">
                  <c:v>0.58062882164240004</c:v>
                </c:pt>
                <c:pt idx="26">
                  <c:v>0.58989301700498198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849-499B-9DF2-70DE2C08D3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50246832"/>
        <c:axId val="1750245872"/>
      </c:scatterChart>
      <c:valAx>
        <c:axId val="17502468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Roller Diameter (mm)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0245872"/>
        <c:crosses val="autoZero"/>
        <c:crossBetween val="midCat"/>
      </c:valAx>
      <c:valAx>
        <c:axId val="1750245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Solid Fraction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024683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powder_features!$O$1</c:f>
              <c:strCache>
                <c:ptCount val="1"/>
                <c:pt idx="0">
                  <c:v>variance_clipped_hull_relative_density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powder_features!$D$2:$D$28</c:f>
              <c:numCache>
                <c:formatCode>General</c:formatCode>
                <c:ptCount val="27"/>
                <c:pt idx="0">
                  <c:v>50</c:v>
                </c:pt>
                <c:pt idx="1">
                  <c:v>50</c:v>
                </c:pt>
                <c:pt idx="2">
                  <c:v>50</c:v>
                </c:pt>
                <c:pt idx="3">
                  <c:v>50</c:v>
                </c:pt>
                <c:pt idx="4">
                  <c:v>50</c:v>
                </c:pt>
                <c:pt idx="5">
                  <c:v>50</c:v>
                </c:pt>
                <c:pt idx="6">
                  <c:v>50</c:v>
                </c:pt>
                <c:pt idx="7">
                  <c:v>50</c:v>
                </c:pt>
                <c:pt idx="8">
                  <c:v>25</c:v>
                </c:pt>
                <c:pt idx="9">
                  <c:v>25</c:v>
                </c:pt>
                <c:pt idx="10">
                  <c:v>25</c:v>
                </c:pt>
                <c:pt idx="11">
                  <c:v>25</c:v>
                </c:pt>
                <c:pt idx="12">
                  <c:v>25</c:v>
                </c:pt>
                <c:pt idx="13">
                  <c:v>25</c:v>
                </c:pt>
                <c:pt idx="14">
                  <c:v>25</c:v>
                </c:pt>
                <c:pt idx="15">
                  <c:v>25</c:v>
                </c:pt>
                <c:pt idx="16">
                  <c:v>25</c:v>
                </c:pt>
                <c:pt idx="17">
                  <c:v>75</c:v>
                </c:pt>
                <c:pt idx="18">
                  <c:v>75</c:v>
                </c:pt>
                <c:pt idx="19">
                  <c:v>75</c:v>
                </c:pt>
                <c:pt idx="20">
                  <c:v>75</c:v>
                </c:pt>
                <c:pt idx="21">
                  <c:v>75</c:v>
                </c:pt>
                <c:pt idx="22">
                  <c:v>75</c:v>
                </c:pt>
                <c:pt idx="23">
                  <c:v>75</c:v>
                </c:pt>
                <c:pt idx="24">
                  <c:v>75</c:v>
                </c:pt>
                <c:pt idx="25">
                  <c:v>75</c:v>
                </c:pt>
                <c:pt idx="26">
                  <c:v>50</c:v>
                </c:pt>
              </c:numCache>
            </c:numRef>
          </c:xVal>
          <c:yVal>
            <c:numRef>
              <c:f>powder_features!$O$2:$O$28</c:f>
              <c:numCache>
                <c:formatCode>General</c:formatCode>
                <c:ptCount val="27"/>
                <c:pt idx="0">
                  <c:v>1.4898575811271E-3</c:v>
                </c:pt>
                <c:pt idx="1">
                  <c:v>2.1501752044941801E-3</c:v>
                </c:pt>
                <c:pt idx="2">
                  <c:v>7.6879492015453498E-4</c:v>
                </c:pt>
                <c:pt idx="3">
                  <c:v>1.71920351666026E-3</c:v>
                </c:pt>
                <c:pt idx="4">
                  <c:v>1.4485644841850699E-3</c:v>
                </c:pt>
                <c:pt idx="5">
                  <c:v>2.9678345045467801E-3</c:v>
                </c:pt>
                <c:pt idx="6">
                  <c:v>2.6640756315308299E-3</c:v>
                </c:pt>
                <c:pt idx="7">
                  <c:v>8.9776005075829996E-4</c:v>
                </c:pt>
                <c:pt idx="8">
                  <c:v>9.5771268021573399E-4</c:v>
                </c:pt>
                <c:pt idx="9">
                  <c:v>9.0244597279541701E-4</c:v>
                </c:pt>
                <c:pt idx="10">
                  <c:v>1.0067909872713201E-3</c:v>
                </c:pt>
                <c:pt idx="11">
                  <c:v>1.51840863840534E-3</c:v>
                </c:pt>
                <c:pt idx="12">
                  <c:v>1.8238419688804701E-3</c:v>
                </c:pt>
                <c:pt idx="13">
                  <c:v>1.7821926891894099E-3</c:v>
                </c:pt>
                <c:pt idx="14">
                  <c:v>2.5386440944063101E-3</c:v>
                </c:pt>
                <c:pt idx="15">
                  <c:v>2.95335945016959E-3</c:v>
                </c:pt>
                <c:pt idx="16">
                  <c:v>3.0484245223890202E-3</c:v>
                </c:pt>
                <c:pt idx="17">
                  <c:v>7.2937907825093703E-4</c:v>
                </c:pt>
                <c:pt idx="18">
                  <c:v>6.55232174179177E-4</c:v>
                </c:pt>
                <c:pt idx="19">
                  <c:v>9.0361650615747204E-4</c:v>
                </c:pt>
                <c:pt idx="20">
                  <c:v>1.08495159659518E-3</c:v>
                </c:pt>
                <c:pt idx="21">
                  <c:v>1.1337153893621001E-3</c:v>
                </c:pt>
                <c:pt idx="22">
                  <c:v>1.14396746698724E-3</c:v>
                </c:pt>
                <c:pt idx="23">
                  <c:v>1.6988658011713601E-3</c:v>
                </c:pt>
                <c:pt idx="24">
                  <c:v>1.87046108463348E-3</c:v>
                </c:pt>
                <c:pt idx="25">
                  <c:v>2.1115144651312101E-3</c:v>
                </c:pt>
                <c:pt idx="26">
                  <c:v>8.6190350788588495E-4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889-4137-B525-41BAF197C6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04133872"/>
        <c:axId val="1704131472"/>
      </c:scatterChart>
      <c:valAx>
        <c:axId val="17041338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% small powder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4131472"/>
        <c:crosses val="autoZero"/>
        <c:crossBetween val="midCat"/>
        <c:majorUnit val="25"/>
      </c:valAx>
      <c:valAx>
        <c:axId val="17041314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density variance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413387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powder_features!$O$1</c:f>
              <c:strCache>
                <c:ptCount val="1"/>
                <c:pt idx="0">
                  <c:v>variance_clipped_hull_relative_density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powder_features!$G$2:$G$28</c:f>
              <c:numCache>
                <c:formatCode>General</c:formatCode>
                <c:ptCount val="27"/>
                <c:pt idx="0">
                  <c:v>300</c:v>
                </c:pt>
                <c:pt idx="1">
                  <c:v>500</c:v>
                </c:pt>
                <c:pt idx="2">
                  <c:v>100</c:v>
                </c:pt>
                <c:pt idx="3">
                  <c:v>300</c:v>
                </c:pt>
                <c:pt idx="4">
                  <c:v>300</c:v>
                </c:pt>
                <c:pt idx="5">
                  <c:v>500</c:v>
                </c:pt>
                <c:pt idx="6">
                  <c:v>500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300</c:v>
                </c:pt>
                <c:pt idx="12">
                  <c:v>300</c:v>
                </c:pt>
                <c:pt idx="13">
                  <c:v>300</c:v>
                </c:pt>
                <c:pt idx="14">
                  <c:v>500</c:v>
                </c:pt>
                <c:pt idx="15">
                  <c:v>500</c:v>
                </c:pt>
                <c:pt idx="16">
                  <c:v>500</c:v>
                </c:pt>
                <c:pt idx="17">
                  <c:v>100</c:v>
                </c:pt>
                <c:pt idx="18">
                  <c:v>100</c:v>
                </c:pt>
                <c:pt idx="19">
                  <c:v>100</c:v>
                </c:pt>
                <c:pt idx="20">
                  <c:v>300</c:v>
                </c:pt>
                <c:pt idx="21">
                  <c:v>300</c:v>
                </c:pt>
                <c:pt idx="22">
                  <c:v>300</c:v>
                </c:pt>
                <c:pt idx="23">
                  <c:v>500</c:v>
                </c:pt>
                <c:pt idx="24">
                  <c:v>500</c:v>
                </c:pt>
                <c:pt idx="25">
                  <c:v>500</c:v>
                </c:pt>
                <c:pt idx="26">
                  <c:v>100</c:v>
                </c:pt>
              </c:numCache>
            </c:numRef>
          </c:xVal>
          <c:yVal>
            <c:numRef>
              <c:f>powder_features!$O$2:$O$28</c:f>
              <c:numCache>
                <c:formatCode>General</c:formatCode>
                <c:ptCount val="27"/>
                <c:pt idx="0">
                  <c:v>1.4898575811271E-3</c:v>
                </c:pt>
                <c:pt idx="1">
                  <c:v>2.1501752044941801E-3</c:v>
                </c:pt>
                <c:pt idx="2">
                  <c:v>7.6879492015453498E-4</c:v>
                </c:pt>
                <c:pt idx="3">
                  <c:v>1.71920351666026E-3</c:v>
                </c:pt>
                <c:pt idx="4">
                  <c:v>1.4485644841850699E-3</c:v>
                </c:pt>
                <c:pt idx="5">
                  <c:v>2.9678345045467801E-3</c:v>
                </c:pt>
                <c:pt idx="6">
                  <c:v>2.6640756315308299E-3</c:v>
                </c:pt>
                <c:pt idx="7">
                  <c:v>8.9776005075829996E-4</c:v>
                </c:pt>
                <c:pt idx="8">
                  <c:v>9.5771268021573399E-4</c:v>
                </c:pt>
                <c:pt idx="9">
                  <c:v>9.0244597279541701E-4</c:v>
                </c:pt>
                <c:pt idx="10">
                  <c:v>1.0067909872713201E-3</c:v>
                </c:pt>
                <c:pt idx="11">
                  <c:v>1.51840863840534E-3</c:v>
                </c:pt>
                <c:pt idx="12">
                  <c:v>1.8238419688804701E-3</c:v>
                </c:pt>
                <c:pt idx="13">
                  <c:v>1.7821926891894099E-3</c:v>
                </c:pt>
                <c:pt idx="14">
                  <c:v>2.5386440944063101E-3</c:v>
                </c:pt>
                <c:pt idx="15">
                  <c:v>2.95335945016959E-3</c:v>
                </c:pt>
                <c:pt idx="16">
                  <c:v>3.0484245223890202E-3</c:v>
                </c:pt>
                <c:pt idx="17">
                  <c:v>7.2937907825093703E-4</c:v>
                </c:pt>
                <c:pt idx="18">
                  <c:v>6.55232174179177E-4</c:v>
                </c:pt>
                <c:pt idx="19">
                  <c:v>9.0361650615747204E-4</c:v>
                </c:pt>
                <c:pt idx="20">
                  <c:v>1.08495159659518E-3</c:v>
                </c:pt>
                <c:pt idx="21">
                  <c:v>1.1337153893621001E-3</c:v>
                </c:pt>
                <c:pt idx="22">
                  <c:v>1.14396746698724E-3</c:v>
                </c:pt>
                <c:pt idx="23">
                  <c:v>1.6988658011713601E-3</c:v>
                </c:pt>
                <c:pt idx="24">
                  <c:v>1.87046108463348E-3</c:v>
                </c:pt>
                <c:pt idx="25">
                  <c:v>2.1115144651312101E-3</c:v>
                </c:pt>
                <c:pt idx="26">
                  <c:v>8.6190350788588495E-4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F53-49EF-9692-C73B4F26F0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04133872"/>
        <c:axId val="1704131472"/>
      </c:scatterChart>
      <c:valAx>
        <c:axId val="17041338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roller speed (mm/s)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4131472"/>
        <c:crosses val="autoZero"/>
        <c:crossBetween val="midCat"/>
      </c:valAx>
      <c:valAx>
        <c:axId val="17041314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density variance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413387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powder_features!$O$1</c:f>
              <c:strCache>
                <c:ptCount val="1"/>
                <c:pt idx="0">
                  <c:v>variance_clipped_hull_relative_density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powder_features!$I$2:$I$28</c:f>
              <c:numCache>
                <c:formatCode>General</c:formatCode>
                <c:ptCount val="27"/>
                <c:pt idx="0">
                  <c:v>100</c:v>
                </c:pt>
                <c:pt idx="1">
                  <c:v>50</c:v>
                </c:pt>
                <c:pt idx="2">
                  <c:v>150</c:v>
                </c:pt>
                <c:pt idx="3">
                  <c:v>50</c:v>
                </c:pt>
                <c:pt idx="4">
                  <c:v>150</c:v>
                </c:pt>
                <c:pt idx="5">
                  <c:v>100</c:v>
                </c:pt>
                <c:pt idx="6">
                  <c:v>150</c:v>
                </c:pt>
                <c:pt idx="7">
                  <c:v>50</c:v>
                </c:pt>
                <c:pt idx="8">
                  <c:v>50</c:v>
                </c:pt>
                <c:pt idx="9">
                  <c:v>100</c:v>
                </c:pt>
                <c:pt idx="10">
                  <c:v>150</c:v>
                </c:pt>
                <c:pt idx="11">
                  <c:v>50</c:v>
                </c:pt>
                <c:pt idx="12">
                  <c:v>100</c:v>
                </c:pt>
                <c:pt idx="13">
                  <c:v>150</c:v>
                </c:pt>
                <c:pt idx="14">
                  <c:v>50</c:v>
                </c:pt>
                <c:pt idx="15">
                  <c:v>100</c:v>
                </c:pt>
                <c:pt idx="16">
                  <c:v>150</c:v>
                </c:pt>
                <c:pt idx="17">
                  <c:v>50</c:v>
                </c:pt>
                <c:pt idx="18">
                  <c:v>100</c:v>
                </c:pt>
                <c:pt idx="19">
                  <c:v>150</c:v>
                </c:pt>
                <c:pt idx="20">
                  <c:v>50</c:v>
                </c:pt>
                <c:pt idx="21">
                  <c:v>100</c:v>
                </c:pt>
                <c:pt idx="22">
                  <c:v>150</c:v>
                </c:pt>
                <c:pt idx="23">
                  <c:v>50</c:v>
                </c:pt>
                <c:pt idx="24">
                  <c:v>100</c:v>
                </c:pt>
                <c:pt idx="25">
                  <c:v>150</c:v>
                </c:pt>
                <c:pt idx="26">
                  <c:v>100</c:v>
                </c:pt>
              </c:numCache>
            </c:numRef>
          </c:xVal>
          <c:yVal>
            <c:numRef>
              <c:f>powder_features!$O$2:$O$28</c:f>
              <c:numCache>
                <c:formatCode>General</c:formatCode>
                <c:ptCount val="27"/>
                <c:pt idx="0">
                  <c:v>1.4898575811271E-3</c:v>
                </c:pt>
                <c:pt idx="1">
                  <c:v>2.1501752044941801E-3</c:v>
                </c:pt>
                <c:pt idx="2">
                  <c:v>7.6879492015453498E-4</c:v>
                </c:pt>
                <c:pt idx="3">
                  <c:v>1.71920351666026E-3</c:v>
                </c:pt>
                <c:pt idx="4">
                  <c:v>1.4485644841850699E-3</c:v>
                </c:pt>
                <c:pt idx="5">
                  <c:v>2.9678345045467801E-3</c:v>
                </c:pt>
                <c:pt idx="6">
                  <c:v>2.6640756315308299E-3</c:v>
                </c:pt>
                <c:pt idx="7">
                  <c:v>8.9776005075829996E-4</c:v>
                </c:pt>
                <c:pt idx="8">
                  <c:v>9.5771268021573399E-4</c:v>
                </c:pt>
                <c:pt idx="9">
                  <c:v>9.0244597279541701E-4</c:v>
                </c:pt>
                <c:pt idx="10">
                  <c:v>1.0067909872713201E-3</c:v>
                </c:pt>
                <c:pt idx="11">
                  <c:v>1.51840863840534E-3</c:v>
                </c:pt>
                <c:pt idx="12">
                  <c:v>1.8238419688804701E-3</c:v>
                </c:pt>
                <c:pt idx="13">
                  <c:v>1.7821926891894099E-3</c:v>
                </c:pt>
                <c:pt idx="14">
                  <c:v>2.5386440944063101E-3</c:v>
                </c:pt>
                <c:pt idx="15">
                  <c:v>2.95335945016959E-3</c:v>
                </c:pt>
                <c:pt idx="16">
                  <c:v>3.0484245223890202E-3</c:v>
                </c:pt>
                <c:pt idx="17">
                  <c:v>7.2937907825093703E-4</c:v>
                </c:pt>
                <c:pt idx="18">
                  <c:v>6.55232174179177E-4</c:v>
                </c:pt>
                <c:pt idx="19">
                  <c:v>9.0361650615747204E-4</c:v>
                </c:pt>
                <c:pt idx="20">
                  <c:v>1.08495159659518E-3</c:v>
                </c:pt>
                <c:pt idx="21">
                  <c:v>1.1337153893621001E-3</c:v>
                </c:pt>
                <c:pt idx="22">
                  <c:v>1.14396746698724E-3</c:v>
                </c:pt>
                <c:pt idx="23">
                  <c:v>1.6988658011713601E-3</c:v>
                </c:pt>
                <c:pt idx="24">
                  <c:v>1.87046108463348E-3</c:v>
                </c:pt>
                <c:pt idx="25">
                  <c:v>2.1115144651312101E-3</c:v>
                </c:pt>
                <c:pt idx="26">
                  <c:v>8.6190350788588495E-4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978-41B4-87C5-58EDA5A81D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04133872"/>
        <c:axId val="1704131472"/>
      </c:scatterChart>
      <c:valAx>
        <c:axId val="17041338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roller size (mm)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4131472"/>
        <c:crosses val="autoZero"/>
        <c:crossBetween val="midCat"/>
      </c:valAx>
      <c:valAx>
        <c:axId val="17041314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density variance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413387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powder_features!$D$2:$D$28</c:f>
              <c:numCache>
                <c:formatCode>General</c:formatCode>
                <c:ptCount val="27"/>
                <c:pt idx="0">
                  <c:v>50</c:v>
                </c:pt>
                <c:pt idx="1">
                  <c:v>50</c:v>
                </c:pt>
                <c:pt idx="2">
                  <c:v>50</c:v>
                </c:pt>
                <c:pt idx="3">
                  <c:v>50</c:v>
                </c:pt>
                <c:pt idx="4">
                  <c:v>50</c:v>
                </c:pt>
                <c:pt idx="5">
                  <c:v>50</c:v>
                </c:pt>
                <c:pt idx="6">
                  <c:v>50</c:v>
                </c:pt>
                <c:pt idx="7">
                  <c:v>50</c:v>
                </c:pt>
                <c:pt idx="8">
                  <c:v>25</c:v>
                </c:pt>
                <c:pt idx="9">
                  <c:v>25</c:v>
                </c:pt>
                <c:pt idx="10">
                  <c:v>25</c:v>
                </c:pt>
                <c:pt idx="11">
                  <c:v>25</c:v>
                </c:pt>
                <c:pt idx="12">
                  <c:v>25</c:v>
                </c:pt>
                <c:pt idx="13">
                  <c:v>25</c:v>
                </c:pt>
                <c:pt idx="14">
                  <c:v>25</c:v>
                </c:pt>
                <c:pt idx="15">
                  <c:v>25</c:v>
                </c:pt>
                <c:pt idx="16">
                  <c:v>25</c:v>
                </c:pt>
                <c:pt idx="17">
                  <c:v>75</c:v>
                </c:pt>
                <c:pt idx="18">
                  <c:v>75</c:v>
                </c:pt>
                <c:pt idx="19">
                  <c:v>75</c:v>
                </c:pt>
                <c:pt idx="20">
                  <c:v>75</c:v>
                </c:pt>
                <c:pt idx="21">
                  <c:v>75</c:v>
                </c:pt>
                <c:pt idx="22">
                  <c:v>75</c:v>
                </c:pt>
                <c:pt idx="23">
                  <c:v>75</c:v>
                </c:pt>
                <c:pt idx="24">
                  <c:v>75</c:v>
                </c:pt>
                <c:pt idx="25">
                  <c:v>75</c:v>
                </c:pt>
                <c:pt idx="26">
                  <c:v>50</c:v>
                </c:pt>
              </c:numCache>
            </c:numRef>
          </c:xVal>
          <c:yVal>
            <c:numRef>
              <c:f>powder_features!$J$2:$J$28</c:f>
              <c:numCache>
                <c:formatCode>General</c:formatCode>
                <c:ptCount val="27"/>
                <c:pt idx="0">
                  <c:v>0.48642283678054798</c:v>
                </c:pt>
                <c:pt idx="1">
                  <c:v>0.50558012723922696</c:v>
                </c:pt>
                <c:pt idx="2">
                  <c:v>0.49400648474693298</c:v>
                </c:pt>
                <c:pt idx="3">
                  <c:v>0.49920472502708402</c:v>
                </c:pt>
                <c:pt idx="4">
                  <c:v>0.48960104584693898</c:v>
                </c:pt>
                <c:pt idx="5">
                  <c:v>0.51206338405609098</c:v>
                </c:pt>
                <c:pt idx="6">
                  <c:v>0.509221851825714</c:v>
                </c:pt>
                <c:pt idx="7">
                  <c:v>0.481332898139953</c:v>
                </c:pt>
                <c:pt idx="8">
                  <c:v>0.49170523881912198</c:v>
                </c:pt>
                <c:pt idx="9">
                  <c:v>0.50709044933319003</c:v>
                </c:pt>
                <c:pt idx="10">
                  <c:v>0.50785231590270996</c:v>
                </c:pt>
                <c:pt idx="11">
                  <c:v>0.50962579250335605</c:v>
                </c:pt>
                <c:pt idx="12">
                  <c:v>0.52944523096084595</c:v>
                </c:pt>
                <c:pt idx="13">
                  <c:v>0.52235591411590498</c:v>
                </c:pt>
                <c:pt idx="14">
                  <c:v>0.54279243946075395</c:v>
                </c:pt>
                <c:pt idx="15">
                  <c:v>0.55546408891677801</c:v>
                </c:pt>
                <c:pt idx="16">
                  <c:v>0.55156433582305897</c:v>
                </c:pt>
                <c:pt idx="17">
                  <c:v>0.419630616903305</c:v>
                </c:pt>
                <c:pt idx="18">
                  <c:v>0.43031713366508401</c:v>
                </c:pt>
                <c:pt idx="19">
                  <c:v>0.432635277509689</c:v>
                </c:pt>
                <c:pt idx="20">
                  <c:v>0.43110749125480602</c:v>
                </c:pt>
                <c:pt idx="21">
                  <c:v>0.432525604963302</c:v>
                </c:pt>
                <c:pt idx="22">
                  <c:v>0.440867960453033</c:v>
                </c:pt>
                <c:pt idx="23">
                  <c:v>0.44916778802871699</c:v>
                </c:pt>
                <c:pt idx="24">
                  <c:v>0.44825577735900801</c:v>
                </c:pt>
                <c:pt idx="25">
                  <c:v>0.45269972085952698</c:v>
                </c:pt>
                <c:pt idx="26">
                  <c:v>0.48705667257308899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26C-4212-A818-B9C9C86705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50246832"/>
        <c:axId val="1750245872"/>
      </c:scatterChart>
      <c:valAx>
        <c:axId val="1750246832"/>
        <c:scaling>
          <c:orientation val="minMax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% small particle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0245872"/>
        <c:crosses val="autoZero"/>
        <c:crossBetween val="midCat"/>
        <c:majorUnit val="25"/>
      </c:valAx>
      <c:valAx>
        <c:axId val="1750245872"/>
        <c:scaling>
          <c:orientation val="minMax"/>
          <c:min val="0.4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Surface Roughness (mm)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024683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powder_features!$G$2:$G$28</c:f>
              <c:numCache>
                <c:formatCode>General</c:formatCode>
                <c:ptCount val="27"/>
                <c:pt idx="0">
                  <c:v>300</c:v>
                </c:pt>
                <c:pt idx="1">
                  <c:v>500</c:v>
                </c:pt>
                <c:pt idx="2">
                  <c:v>100</c:v>
                </c:pt>
                <c:pt idx="3">
                  <c:v>300</c:v>
                </c:pt>
                <c:pt idx="4">
                  <c:v>300</c:v>
                </c:pt>
                <c:pt idx="5">
                  <c:v>500</c:v>
                </c:pt>
                <c:pt idx="6">
                  <c:v>500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300</c:v>
                </c:pt>
                <c:pt idx="12">
                  <c:v>300</c:v>
                </c:pt>
                <c:pt idx="13">
                  <c:v>300</c:v>
                </c:pt>
                <c:pt idx="14">
                  <c:v>500</c:v>
                </c:pt>
                <c:pt idx="15">
                  <c:v>500</c:v>
                </c:pt>
                <c:pt idx="16">
                  <c:v>500</c:v>
                </c:pt>
                <c:pt idx="17">
                  <c:v>100</c:v>
                </c:pt>
                <c:pt idx="18">
                  <c:v>100</c:v>
                </c:pt>
                <c:pt idx="19">
                  <c:v>100</c:v>
                </c:pt>
                <c:pt idx="20">
                  <c:v>300</c:v>
                </c:pt>
                <c:pt idx="21">
                  <c:v>300</c:v>
                </c:pt>
                <c:pt idx="22">
                  <c:v>300</c:v>
                </c:pt>
                <c:pt idx="23">
                  <c:v>500</c:v>
                </c:pt>
                <c:pt idx="24">
                  <c:v>500</c:v>
                </c:pt>
                <c:pt idx="25">
                  <c:v>500</c:v>
                </c:pt>
                <c:pt idx="26">
                  <c:v>100</c:v>
                </c:pt>
              </c:numCache>
            </c:numRef>
          </c:xVal>
          <c:yVal>
            <c:numRef>
              <c:f>powder_features!$J$2:$J$28</c:f>
              <c:numCache>
                <c:formatCode>General</c:formatCode>
                <c:ptCount val="27"/>
                <c:pt idx="0">
                  <c:v>0.48642283678054798</c:v>
                </c:pt>
                <c:pt idx="1">
                  <c:v>0.50558012723922696</c:v>
                </c:pt>
                <c:pt idx="2">
                  <c:v>0.49400648474693298</c:v>
                </c:pt>
                <c:pt idx="3">
                  <c:v>0.49920472502708402</c:v>
                </c:pt>
                <c:pt idx="4">
                  <c:v>0.48960104584693898</c:v>
                </c:pt>
                <c:pt idx="5">
                  <c:v>0.51206338405609098</c:v>
                </c:pt>
                <c:pt idx="6">
                  <c:v>0.509221851825714</c:v>
                </c:pt>
                <c:pt idx="7">
                  <c:v>0.481332898139953</c:v>
                </c:pt>
                <c:pt idx="8">
                  <c:v>0.49170523881912198</c:v>
                </c:pt>
                <c:pt idx="9">
                  <c:v>0.50709044933319003</c:v>
                </c:pt>
                <c:pt idx="10">
                  <c:v>0.50785231590270996</c:v>
                </c:pt>
                <c:pt idx="11">
                  <c:v>0.50962579250335605</c:v>
                </c:pt>
                <c:pt idx="12">
                  <c:v>0.52944523096084595</c:v>
                </c:pt>
                <c:pt idx="13">
                  <c:v>0.52235591411590498</c:v>
                </c:pt>
                <c:pt idx="14">
                  <c:v>0.54279243946075395</c:v>
                </c:pt>
                <c:pt idx="15">
                  <c:v>0.55546408891677801</c:v>
                </c:pt>
                <c:pt idx="16">
                  <c:v>0.55156433582305897</c:v>
                </c:pt>
                <c:pt idx="17">
                  <c:v>0.419630616903305</c:v>
                </c:pt>
                <c:pt idx="18">
                  <c:v>0.43031713366508401</c:v>
                </c:pt>
                <c:pt idx="19">
                  <c:v>0.432635277509689</c:v>
                </c:pt>
                <c:pt idx="20">
                  <c:v>0.43110749125480602</c:v>
                </c:pt>
                <c:pt idx="21">
                  <c:v>0.432525604963302</c:v>
                </c:pt>
                <c:pt idx="22">
                  <c:v>0.440867960453033</c:v>
                </c:pt>
                <c:pt idx="23">
                  <c:v>0.44916778802871699</c:v>
                </c:pt>
                <c:pt idx="24">
                  <c:v>0.44825577735900801</c:v>
                </c:pt>
                <c:pt idx="25">
                  <c:v>0.45269972085952698</c:v>
                </c:pt>
                <c:pt idx="26">
                  <c:v>0.48705667257308899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2D1-4A35-81A8-B70BD3D2B9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50246832"/>
        <c:axId val="1750245872"/>
      </c:scatterChart>
      <c:valAx>
        <c:axId val="17502468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Roller Speed (mm/s)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0245872"/>
        <c:crosses val="autoZero"/>
        <c:crossBetween val="midCat"/>
      </c:valAx>
      <c:valAx>
        <c:axId val="1750245872"/>
        <c:scaling>
          <c:orientation val="minMax"/>
          <c:min val="0.4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Surface Roughness (mm)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024683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powder_features!$I$2:$I$28</c:f>
              <c:numCache>
                <c:formatCode>General</c:formatCode>
                <c:ptCount val="27"/>
                <c:pt idx="0">
                  <c:v>100</c:v>
                </c:pt>
                <c:pt idx="1">
                  <c:v>50</c:v>
                </c:pt>
                <c:pt idx="2">
                  <c:v>150</c:v>
                </c:pt>
                <c:pt idx="3">
                  <c:v>50</c:v>
                </c:pt>
                <c:pt idx="4">
                  <c:v>150</c:v>
                </c:pt>
                <c:pt idx="5">
                  <c:v>100</c:v>
                </c:pt>
                <c:pt idx="6">
                  <c:v>150</c:v>
                </c:pt>
                <c:pt idx="7">
                  <c:v>50</c:v>
                </c:pt>
                <c:pt idx="8">
                  <c:v>50</c:v>
                </c:pt>
                <c:pt idx="9">
                  <c:v>100</c:v>
                </c:pt>
                <c:pt idx="10">
                  <c:v>150</c:v>
                </c:pt>
                <c:pt idx="11">
                  <c:v>50</c:v>
                </c:pt>
                <c:pt idx="12">
                  <c:v>100</c:v>
                </c:pt>
                <c:pt idx="13">
                  <c:v>150</c:v>
                </c:pt>
                <c:pt idx="14">
                  <c:v>50</c:v>
                </c:pt>
                <c:pt idx="15">
                  <c:v>100</c:v>
                </c:pt>
                <c:pt idx="16">
                  <c:v>150</c:v>
                </c:pt>
                <c:pt idx="17">
                  <c:v>50</c:v>
                </c:pt>
                <c:pt idx="18">
                  <c:v>100</c:v>
                </c:pt>
                <c:pt idx="19">
                  <c:v>150</c:v>
                </c:pt>
                <c:pt idx="20">
                  <c:v>50</c:v>
                </c:pt>
                <c:pt idx="21">
                  <c:v>100</c:v>
                </c:pt>
                <c:pt idx="22">
                  <c:v>150</c:v>
                </c:pt>
                <c:pt idx="23">
                  <c:v>50</c:v>
                </c:pt>
                <c:pt idx="24">
                  <c:v>100</c:v>
                </c:pt>
                <c:pt idx="25">
                  <c:v>150</c:v>
                </c:pt>
                <c:pt idx="26">
                  <c:v>100</c:v>
                </c:pt>
              </c:numCache>
            </c:numRef>
          </c:xVal>
          <c:yVal>
            <c:numRef>
              <c:f>powder_features!$J$2:$J$28</c:f>
              <c:numCache>
                <c:formatCode>General</c:formatCode>
                <c:ptCount val="27"/>
                <c:pt idx="0">
                  <c:v>0.48642283678054798</c:v>
                </c:pt>
                <c:pt idx="1">
                  <c:v>0.50558012723922696</c:v>
                </c:pt>
                <c:pt idx="2">
                  <c:v>0.49400648474693298</c:v>
                </c:pt>
                <c:pt idx="3">
                  <c:v>0.49920472502708402</c:v>
                </c:pt>
                <c:pt idx="4">
                  <c:v>0.48960104584693898</c:v>
                </c:pt>
                <c:pt idx="5">
                  <c:v>0.51206338405609098</c:v>
                </c:pt>
                <c:pt idx="6">
                  <c:v>0.509221851825714</c:v>
                </c:pt>
                <c:pt idx="7">
                  <c:v>0.481332898139953</c:v>
                </c:pt>
                <c:pt idx="8">
                  <c:v>0.49170523881912198</c:v>
                </c:pt>
                <c:pt idx="9">
                  <c:v>0.50709044933319003</c:v>
                </c:pt>
                <c:pt idx="10">
                  <c:v>0.50785231590270996</c:v>
                </c:pt>
                <c:pt idx="11">
                  <c:v>0.50962579250335605</c:v>
                </c:pt>
                <c:pt idx="12">
                  <c:v>0.52944523096084595</c:v>
                </c:pt>
                <c:pt idx="13">
                  <c:v>0.52235591411590498</c:v>
                </c:pt>
                <c:pt idx="14">
                  <c:v>0.54279243946075395</c:v>
                </c:pt>
                <c:pt idx="15">
                  <c:v>0.55546408891677801</c:v>
                </c:pt>
                <c:pt idx="16">
                  <c:v>0.55156433582305897</c:v>
                </c:pt>
                <c:pt idx="17">
                  <c:v>0.419630616903305</c:v>
                </c:pt>
                <c:pt idx="18">
                  <c:v>0.43031713366508401</c:v>
                </c:pt>
                <c:pt idx="19">
                  <c:v>0.432635277509689</c:v>
                </c:pt>
                <c:pt idx="20">
                  <c:v>0.43110749125480602</c:v>
                </c:pt>
                <c:pt idx="21">
                  <c:v>0.432525604963302</c:v>
                </c:pt>
                <c:pt idx="22">
                  <c:v>0.440867960453033</c:v>
                </c:pt>
                <c:pt idx="23">
                  <c:v>0.44916778802871699</c:v>
                </c:pt>
                <c:pt idx="24">
                  <c:v>0.44825577735900801</c:v>
                </c:pt>
                <c:pt idx="25">
                  <c:v>0.45269972085952698</c:v>
                </c:pt>
                <c:pt idx="26">
                  <c:v>0.48705667257308899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FFC-47CF-99AF-0A5C265BEB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50246832"/>
        <c:axId val="1750245872"/>
      </c:scatterChart>
      <c:valAx>
        <c:axId val="17502468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Roller Diameter (mm)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0245872"/>
        <c:crosses val="autoZero"/>
        <c:crossBetween val="midCat"/>
      </c:valAx>
      <c:valAx>
        <c:axId val="1750245872"/>
        <c:scaling>
          <c:orientation val="minMax"/>
          <c:min val="0.4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Surface Roughness (mm)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024683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powder_features!$K$1</c:f>
              <c:strCache>
                <c:ptCount val="1"/>
                <c:pt idx="0">
                  <c:v>transverse_rms_roughness_variance_mm2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powder_features!$D$2:$D$28</c:f>
              <c:numCache>
                <c:formatCode>General</c:formatCode>
                <c:ptCount val="27"/>
                <c:pt idx="0">
                  <c:v>50</c:v>
                </c:pt>
                <c:pt idx="1">
                  <c:v>50</c:v>
                </c:pt>
                <c:pt idx="2">
                  <c:v>50</c:v>
                </c:pt>
                <c:pt idx="3">
                  <c:v>50</c:v>
                </c:pt>
                <c:pt idx="4">
                  <c:v>50</c:v>
                </c:pt>
                <c:pt idx="5">
                  <c:v>50</c:v>
                </c:pt>
                <c:pt idx="6">
                  <c:v>50</c:v>
                </c:pt>
                <c:pt idx="7">
                  <c:v>50</c:v>
                </c:pt>
                <c:pt idx="8">
                  <c:v>25</c:v>
                </c:pt>
                <c:pt idx="9">
                  <c:v>25</c:v>
                </c:pt>
                <c:pt idx="10">
                  <c:v>25</c:v>
                </c:pt>
                <c:pt idx="11">
                  <c:v>25</c:v>
                </c:pt>
                <c:pt idx="12">
                  <c:v>25</c:v>
                </c:pt>
                <c:pt idx="13">
                  <c:v>25</c:v>
                </c:pt>
                <c:pt idx="14">
                  <c:v>25</c:v>
                </c:pt>
                <c:pt idx="15">
                  <c:v>25</c:v>
                </c:pt>
                <c:pt idx="16">
                  <c:v>25</c:v>
                </c:pt>
                <c:pt idx="17">
                  <c:v>75</c:v>
                </c:pt>
                <c:pt idx="18">
                  <c:v>75</c:v>
                </c:pt>
                <c:pt idx="19">
                  <c:v>75</c:v>
                </c:pt>
                <c:pt idx="20">
                  <c:v>75</c:v>
                </c:pt>
                <c:pt idx="21">
                  <c:v>75</c:v>
                </c:pt>
                <c:pt idx="22">
                  <c:v>75</c:v>
                </c:pt>
                <c:pt idx="23">
                  <c:v>75</c:v>
                </c:pt>
                <c:pt idx="24">
                  <c:v>75</c:v>
                </c:pt>
                <c:pt idx="25">
                  <c:v>75</c:v>
                </c:pt>
                <c:pt idx="26">
                  <c:v>50</c:v>
                </c:pt>
              </c:numCache>
            </c:numRef>
          </c:xVal>
          <c:yVal>
            <c:numRef>
              <c:f>powder_features!$K$2:$K$28</c:f>
              <c:numCache>
                <c:formatCode>General</c:formatCode>
                <c:ptCount val="27"/>
                <c:pt idx="0">
                  <c:v>5.7188482023775499E-3</c:v>
                </c:pt>
                <c:pt idx="1">
                  <c:v>7.18273734673857E-3</c:v>
                </c:pt>
                <c:pt idx="2">
                  <c:v>6.7031909711658903E-3</c:v>
                </c:pt>
                <c:pt idx="3">
                  <c:v>6.8394811823964102E-3</c:v>
                </c:pt>
                <c:pt idx="4">
                  <c:v>6.2662097625434399E-3</c:v>
                </c:pt>
                <c:pt idx="5">
                  <c:v>8.9902589097619005E-3</c:v>
                </c:pt>
                <c:pt idx="6">
                  <c:v>7.8344689682125993E-3</c:v>
                </c:pt>
                <c:pt idx="7">
                  <c:v>6.8058599717914997E-3</c:v>
                </c:pt>
                <c:pt idx="8">
                  <c:v>7.0450534112751397E-3</c:v>
                </c:pt>
                <c:pt idx="9">
                  <c:v>8.6089195683598501E-3</c:v>
                </c:pt>
                <c:pt idx="10">
                  <c:v>8.2768034189939499E-3</c:v>
                </c:pt>
                <c:pt idx="11">
                  <c:v>6.17994042113423E-3</c:v>
                </c:pt>
                <c:pt idx="12">
                  <c:v>6.9901887327432598E-3</c:v>
                </c:pt>
                <c:pt idx="13">
                  <c:v>7.4228160083293897E-3</c:v>
                </c:pt>
                <c:pt idx="14">
                  <c:v>8.4906984120607307E-3</c:v>
                </c:pt>
                <c:pt idx="15">
                  <c:v>9.74317267537117E-3</c:v>
                </c:pt>
                <c:pt idx="16">
                  <c:v>9.4134015962481499E-3</c:v>
                </c:pt>
                <c:pt idx="17">
                  <c:v>4.63337078690528E-3</c:v>
                </c:pt>
                <c:pt idx="18">
                  <c:v>3.9389049634337399E-3</c:v>
                </c:pt>
                <c:pt idx="19">
                  <c:v>4.1445386596024002E-3</c:v>
                </c:pt>
                <c:pt idx="20">
                  <c:v>4.7720121219754202E-3</c:v>
                </c:pt>
                <c:pt idx="21">
                  <c:v>4.3111764825880501E-3</c:v>
                </c:pt>
                <c:pt idx="22">
                  <c:v>4.4192015193402698E-3</c:v>
                </c:pt>
                <c:pt idx="23">
                  <c:v>5.4646590724587397E-3</c:v>
                </c:pt>
                <c:pt idx="24">
                  <c:v>4.9772984348237497E-3</c:v>
                </c:pt>
                <c:pt idx="25">
                  <c:v>6.2381438910961099E-3</c:v>
                </c:pt>
                <c:pt idx="26">
                  <c:v>7.1367514319717797E-3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196-4CC9-9411-7E67BF42C7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04133872"/>
        <c:axId val="1704131472"/>
      </c:scatterChart>
      <c:valAx>
        <c:axId val="17041338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% small powder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4131472"/>
        <c:crosses val="autoZero"/>
        <c:crossBetween val="midCat"/>
        <c:majorUnit val="25"/>
      </c:valAx>
      <c:valAx>
        <c:axId val="17041314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roughness variance (mm)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413387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powder_features!$K$1</c:f>
              <c:strCache>
                <c:ptCount val="1"/>
                <c:pt idx="0">
                  <c:v>transverse_rms_roughness_variance_mm2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powder_features!$G$2:$G$28</c:f>
              <c:numCache>
                <c:formatCode>General</c:formatCode>
                <c:ptCount val="27"/>
                <c:pt idx="0">
                  <c:v>300</c:v>
                </c:pt>
                <c:pt idx="1">
                  <c:v>500</c:v>
                </c:pt>
                <c:pt idx="2">
                  <c:v>100</c:v>
                </c:pt>
                <c:pt idx="3">
                  <c:v>300</c:v>
                </c:pt>
                <c:pt idx="4">
                  <c:v>300</c:v>
                </c:pt>
                <c:pt idx="5">
                  <c:v>500</c:v>
                </c:pt>
                <c:pt idx="6">
                  <c:v>500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300</c:v>
                </c:pt>
                <c:pt idx="12">
                  <c:v>300</c:v>
                </c:pt>
                <c:pt idx="13">
                  <c:v>300</c:v>
                </c:pt>
                <c:pt idx="14">
                  <c:v>500</c:v>
                </c:pt>
                <c:pt idx="15">
                  <c:v>500</c:v>
                </c:pt>
                <c:pt idx="16">
                  <c:v>500</c:v>
                </c:pt>
                <c:pt idx="17">
                  <c:v>100</c:v>
                </c:pt>
                <c:pt idx="18">
                  <c:v>100</c:v>
                </c:pt>
                <c:pt idx="19">
                  <c:v>100</c:v>
                </c:pt>
                <c:pt idx="20">
                  <c:v>300</c:v>
                </c:pt>
                <c:pt idx="21">
                  <c:v>300</c:v>
                </c:pt>
                <c:pt idx="22">
                  <c:v>300</c:v>
                </c:pt>
                <c:pt idx="23">
                  <c:v>500</c:v>
                </c:pt>
                <c:pt idx="24">
                  <c:v>500</c:v>
                </c:pt>
                <c:pt idx="25">
                  <c:v>500</c:v>
                </c:pt>
                <c:pt idx="26">
                  <c:v>100</c:v>
                </c:pt>
              </c:numCache>
            </c:numRef>
          </c:xVal>
          <c:yVal>
            <c:numRef>
              <c:f>powder_features!$K$2:$K$28</c:f>
              <c:numCache>
                <c:formatCode>General</c:formatCode>
                <c:ptCount val="27"/>
                <c:pt idx="0">
                  <c:v>5.7188482023775499E-3</c:v>
                </c:pt>
                <c:pt idx="1">
                  <c:v>7.18273734673857E-3</c:v>
                </c:pt>
                <c:pt idx="2">
                  <c:v>6.7031909711658903E-3</c:v>
                </c:pt>
                <c:pt idx="3">
                  <c:v>6.8394811823964102E-3</c:v>
                </c:pt>
                <c:pt idx="4">
                  <c:v>6.2662097625434399E-3</c:v>
                </c:pt>
                <c:pt idx="5">
                  <c:v>8.9902589097619005E-3</c:v>
                </c:pt>
                <c:pt idx="6">
                  <c:v>7.8344689682125993E-3</c:v>
                </c:pt>
                <c:pt idx="7">
                  <c:v>6.8058599717914997E-3</c:v>
                </c:pt>
                <c:pt idx="8">
                  <c:v>7.0450534112751397E-3</c:v>
                </c:pt>
                <c:pt idx="9">
                  <c:v>8.6089195683598501E-3</c:v>
                </c:pt>
                <c:pt idx="10">
                  <c:v>8.2768034189939499E-3</c:v>
                </c:pt>
                <c:pt idx="11">
                  <c:v>6.17994042113423E-3</c:v>
                </c:pt>
                <c:pt idx="12">
                  <c:v>6.9901887327432598E-3</c:v>
                </c:pt>
                <c:pt idx="13">
                  <c:v>7.4228160083293897E-3</c:v>
                </c:pt>
                <c:pt idx="14">
                  <c:v>8.4906984120607307E-3</c:v>
                </c:pt>
                <c:pt idx="15">
                  <c:v>9.74317267537117E-3</c:v>
                </c:pt>
                <c:pt idx="16">
                  <c:v>9.4134015962481499E-3</c:v>
                </c:pt>
                <c:pt idx="17">
                  <c:v>4.63337078690528E-3</c:v>
                </c:pt>
                <c:pt idx="18">
                  <c:v>3.9389049634337399E-3</c:v>
                </c:pt>
                <c:pt idx="19">
                  <c:v>4.1445386596024002E-3</c:v>
                </c:pt>
                <c:pt idx="20">
                  <c:v>4.7720121219754202E-3</c:v>
                </c:pt>
                <c:pt idx="21">
                  <c:v>4.3111764825880501E-3</c:v>
                </c:pt>
                <c:pt idx="22">
                  <c:v>4.4192015193402698E-3</c:v>
                </c:pt>
                <c:pt idx="23">
                  <c:v>5.4646590724587397E-3</c:v>
                </c:pt>
                <c:pt idx="24">
                  <c:v>4.9772984348237497E-3</c:v>
                </c:pt>
                <c:pt idx="25">
                  <c:v>6.2381438910961099E-3</c:v>
                </c:pt>
                <c:pt idx="26">
                  <c:v>7.1367514319717797E-3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575-4C88-A5BE-64F9597092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93157040"/>
        <c:axId val="393160400"/>
      </c:scatterChart>
      <c:valAx>
        <c:axId val="3931570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Roller Speed (mm/s)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3160400"/>
        <c:crosses val="autoZero"/>
        <c:crossBetween val="midCat"/>
      </c:valAx>
      <c:valAx>
        <c:axId val="3931604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roughness</a:t>
                </a:r>
                <a:r>
                  <a:rPr lang="en-US" baseline="0"/>
                  <a:t> variance (mm2)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315704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powder_features!$K$1</c:f>
              <c:strCache>
                <c:ptCount val="1"/>
                <c:pt idx="0">
                  <c:v>transverse_rms_roughness_variance_mm2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powder_features!$I$2:$I$28</c:f>
              <c:numCache>
                <c:formatCode>General</c:formatCode>
                <c:ptCount val="27"/>
                <c:pt idx="0">
                  <c:v>100</c:v>
                </c:pt>
                <c:pt idx="1">
                  <c:v>50</c:v>
                </c:pt>
                <c:pt idx="2">
                  <c:v>150</c:v>
                </c:pt>
                <c:pt idx="3">
                  <c:v>50</c:v>
                </c:pt>
                <c:pt idx="4">
                  <c:v>150</c:v>
                </c:pt>
                <c:pt idx="5">
                  <c:v>100</c:v>
                </c:pt>
                <c:pt idx="6">
                  <c:v>150</c:v>
                </c:pt>
                <c:pt idx="7">
                  <c:v>50</c:v>
                </c:pt>
                <c:pt idx="8">
                  <c:v>50</c:v>
                </c:pt>
                <c:pt idx="9">
                  <c:v>100</c:v>
                </c:pt>
                <c:pt idx="10">
                  <c:v>150</c:v>
                </c:pt>
                <c:pt idx="11">
                  <c:v>50</c:v>
                </c:pt>
                <c:pt idx="12">
                  <c:v>100</c:v>
                </c:pt>
                <c:pt idx="13">
                  <c:v>150</c:v>
                </c:pt>
                <c:pt idx="14">
                  <c:v>50</c:v>
                </c:pt>
                <c:pt idx="15">
                  <c:v>100</c:v>
                </c:pt>
                <c:pt idx="16">
                  <c:v>150</c:v>
                </c:pt>
                <c:pt idx="17">
                  <c:v>50</c:v>
                </c:pt>
                <c:pt idx="18">
                  <c:v>100</c:v>
                </c:pt>
                <c:pt idx="19">
                  <c:v>150</c:v>
                </c:pt>
                <c:pt idx="20">
                  <c:v>50</c:v>
                </c:pt>
                <c:pt idx="21">
                  <c:v>100</c:v>
                </c:pt>
                <c:pt idx="22">
                  <c:v>150</c:v>
                </c:pt>
                <c:pt idx="23">
                  <c:v>50</c:v>
                </c:pt>
                <c:pt idx="24">
                  <c:v>100</c:v>
                </c:pt>
                <c:pt idx="25">
                  <c:v>150</c:v>
                </c:pt>
                <c:pt idx="26">
                  <c:v>100</c:v>
                </c:pt>
              </c:numCache>
            </c:numRef>
          </c:xVal>
          <c:yVal>
            <c:numRef>
              <c:f>powder_features!$K$2:$K$28</c:f>
              <c:numCache>
                <c:formatCode>General</c:formatCode>
                <c:ptCount val="27"/>
                <c:pt idx="0">
                  <c:v>5.7188482023775499E-3</c:v>
                </c:pt>
                <c:pt idx="1">
                  <c:v>7.18273734673857E-3</c:v>
                </c:pt>
                <c:pt idx="2">
                  <c:v>6.7031909711658903E-3</c:v>
                </c:pt>
                <c:pt idx="3">
                  <c:v>6.8394811823964102E-3</c:v>
                </c:pt>
                <c:pt idx="4">
                  <c:v>6.2662097625434399E-3</c:v>
                </c:pt>
                <c:pt idx="5">
                  <c:v>8.9902589097619005E-3</c:v>
                </c:pt>
                <c:pt idx="6">
                  <c:v>7.8344689682125993E-3</c:v>
                </c:pt>
                <c:pt idx="7">
                  <c:v>6.8058599717914997E-3</c:v>
                </c:pt>
                <c:pt idx="8">
                  <c:v>7.0450534112751397E-3</c:v>
                </c:pt>
                <c:pt idx="9">
                  <c:v>8.6089195683598501E-3</c:v>
                </c:pt>
                <c:pt idx="10">
                  <c:v>8.2768034189939499E-3</c:v>
                </c:pt>
                <c:pt idx="11">
                  <c:v>6.17994042113423E-3</c:v>
                </c:pt>
                <c:pt idx="12">
                  <c:v>6.9901887327432598E-3</c:v>
                </c:pt>
                <c:pt idx="13">
                  <c:v>7.4228160083293897E-3</c:v>
                </c:pt>
                <c:pt idx="14">
                  <c:v>8.4906984120607307E-3</c:v>
                </c:pt>
                <c:pt idx="15">
                  <c:v>9.74317267537117E-3</c:v>
                </c:pt>
                <c:pt idx="16">
                  <c:v>9.4134015962481499E-3</c:v>
                </c:pt>
                <c:pt idx="17">
                  <c:v>4.63337078690528E-3</c:v>
                </c:pt>
                <c:pt idx="18">
                  <c:v>3.9389049634337399E-3</c:v>
                </c:pt>
                <c:pt idx="19">
                  <c:v>4.1445386596024002E-3</c:v>
                </c:pt>
                <c:pt idx="20">
                  <c:v>4.7720121219754202E-3</c:v>
                </c:pt>
                <c:pt idx="21">
                  <c:v>4.3111764825880501E-3</c:v>
                </c:pt>
                <c:pt idx="22">
                  <c:v>4.4192015193402698E-3</c:v>
                </c:pt>
                <c:pt idx="23">
                  <c:v>5.4646590724587397E-3</c:v>
                </c:pt>
                <c:pt idx="24">
                  <c:v>4.9772984348237497E-3</c:v>
                </c:pt>
                <c:pt idx="25">
                  <c:v>6.2381438910961099E-3</c:v>
                </c:pt>
                <c:pt idx="26">
                  <c:v>7.1367514319717797E-3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22A-4B8F-9CD0-65E7A4A928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93157040"/>
        <c:axId val="393160400"/>
      </c:scatterChart>
      <c:valAx>
        <c:axId val="3931570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Roller Size (mm)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3160400"/>
        <c:crosses val="autoZero"/>
        <c:crossBetween val="midCat"/>
      </c:valAx>
      <c:valAx>
        <c:axId val="3931604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roughness</a:t>
                </a:r>
                <a:r>
                  <a:rPr lang="en-US" baseline="0"/>
                  <a:t> variance (mm2)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315704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E28A9-F7C5-3C42-5A31-F581FE9005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7AC30C-D07B-6297-D9B4-EEE1CD9F17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832CAB-A08D-DACC-A50A-5293ABA7B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53A27-C895-47DC-90EF-CB77141969D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5F5D3-05D0-6B2A-150C-3851269D8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15CDD-2E36-121B-1153-F73479B23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0057F-213C-4CEE-8B9A-7EAB937F1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577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CF231-8DE5-E174-811B-EA00BACB2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57717-540E-F6DB-4B20-76F17FA81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59922-94B7-D0ED-5461-4FC95F27B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53A27-C895-47DC-90EF-CB77141969D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EF7F1B-BA05-210F-1469-3466DB30F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B3776B-9EFA-A5A1-CF8F-43D9E1D33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0057F-213C-4CEE-8B9A-7EAB937F1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281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E8B21-54CD-41A4-C0BE-DE24A0AF0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8F1E4F-736B-5CBE-CD99-CD25F3CB6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69566-47DF-E388-7C96-133E440AB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53A27-C895-47DC-90EF-CB77141969D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062930-43CF-1647-583E-FFB3E0997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612E4-C425-1FAF-23CC-057F51FA8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0057F-213C-4CEE-8B9A-7EAB937F1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832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0EB59-7512-EEC3-A071-0593D0E67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D15B7-361D-02D7-C46E-52FDFA078E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977EB7-51D3-D826-3B27-6F37198920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1EF0ED-E907-5529-DCF4-51FBA8F0C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53A27-C895-47DC-90EF-CB77141969D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C143D2-D74E-A0B0-988F-2CCC7C43C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43F21C-EDB2-FFD3-5551-9ED7AB3BC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0057F-213C-4CEE-8B9A-7EAB937F1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526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03EBA-848D-0C47-47BD-8B35E97FD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2057CF-C2A3-2F80-C8D3-D473316D09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E02519-10D2-E217-97FD-D8903189A3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0AA701-D152-C736-96BB-A863BD7F3F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1E1394-F212-67CA-5F8D-CF59293B8C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9402AA-D41F-B92A-4939-106E5FAA3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53A27-C895-47DC-90EF-CB77141969D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091787-0FBE-B139-9375-020E69B35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B860FA-3F51-074C-43E7-DB6E8CFBE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0057F-213C-4CEE-8B9A-7EAB937F1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22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F6B33-E5DD-0437-61D6-C00E4347D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20F41F-42B5-7CB3-03E9-E4A4BEE0D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53A27-C895-47DC-90EF-CB77141969D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19890C-43BE-5A6F-668D-AEB9C0C5E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1E776-0F0B-5967-992D-401B856F6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0057F-213C-4CEE-8B9A-7EAB937F1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57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80608-5C3A-FBF7-C59A-EB60B05EB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53A27-C895-47DC-90EF-CB77141969D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13A2B4-5B24-A077-A364-A6D58B1F0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FCD334-B0B9-C386-16E0-745C05D68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0057F-213C-4CEE-8B9A-7EAB937F1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003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773F0-2C4C-90B0-BCB7-20CBF632E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70F4D-AD3B-1ACF-2F06-EED98BEFD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407455-F59C-C417-7CDF-9822505691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6D1AEF-F5FF-4BFF-AEAD-5108926E9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53A27-C895-47DC-90EF-CB77141969D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FF48B2-9427-7389-9E55-CD6F8C61D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FBCF8A-EE42-8C9D-8374-0F96A6AB6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0057F-213C-4CEE-8B9A-7EAB937F1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583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A92EF-1D5C-C24F-2C7A-15368154B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7E7B54-03F5-61CF-D28F-E4BA6D3ADB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2CF1D4-D0F2-F145-BBF7-B6F6DE55B3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663527-B81B-4534-6A47-05F6DB490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53A27-C895-47DC-90EF-CB77141969D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899CC1-2B43-E0D9-866C-8F68D41B9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80E4E1-578D-0EA0-DBD9-DC09997EB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0057F-213C-4CEE-8B9A-7EAB937F1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63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E3C66-D215-5F11-7DF7-65473F70C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467FCC-8B00-E509-435A-BAE6342236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48BC0-C94C-AD65-2098-1C2B107EA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53A27-C895-47DC-90EF-CB77141969D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49AD28-6EB2-519B-F229-A42B0D049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2632E-BBF3-568C-ACAA-AF880D523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0057F-213C-4CEE-8B9A-7EAB937F1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515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9D5D98-1643-B955-2E4D-3BBF2BD907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5AEA29-B722-140D-BE9D-FDE3DCC111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DAC42-C6B5-3C86-C462-7DF8C375A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53A27-C895-47DC-90EF-CB77141969D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B26863-F0C0-8F74-91D9-790537FE9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1760F0-142C-FD1B-7E5C-B0E3BAC6C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0057F-213C-4CEE-8B9A-7EAB937F1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633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3F04C4-ADB2-E71C-294F-B8637B31D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DA18BC-1C19-05C5-F0C1-9CAE35957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AC387-03EB-41EA-A848-F13A52964F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953A27-C895-47DC-90EF-CB77141969D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72F2E4-4B3F-048B-018F-8167CA7FFC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0D874-513C-8DC7-F129-C935A5F033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90057F-213C-4CEE-8B9A-7EAB937F1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528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9.xml"/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2.xml"/><Relationship Id="rId2" Type="http://schemas.openxmlformats.org/officeDocument/2006/relationships/chart" Target="../charts/chart2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E6751-FD6D-24B1-94AF-5CD1A2E87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DOE-Parameters for DEM model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0882FD-FD85-34B9-EF95-3E2F54C4E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33355"/>
            <a:ext cx="4391025" cy="7810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051A2F-F1D9-2DDB-E342-33828B11E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0422" y="1310397"/>
            <a:ext cx="5334000" cy="53530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D816BCF-4598-16D7-5444-44573BAC8E8B}"/>
              </a:ext>
            </a:extLst>
          </p:cNvPr>
          <p:cNvSpPr txBox="1"/>
          <p:nvPr/>
        </p:nvSpPr>
        <p:spPr>
          <a:xfrm>
            <a:off x="958273" y="3568939"/>
            <a:ext cx="415867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Surface Roughness (mm)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Variance Surface roughness (mm)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Solid Fraction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Variance Solid Fraction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Coordinate Number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Variance Coordinate Number </a:t>
            </a:r>
          </a:p>
        </p:txBody>
      </p:sp>
    </p:spTree>
    <p:extLst>
      <p:ext uri="{BB962C8B-B14F-4D97-AF65-F5344CB8AC3E}">
        <p14:creationId xmlns:p14="http://schemas.microsoft.com/office/powerpoint/2010/main" val="3753939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D2929-A9D2-9257-5045-ADBFCCE71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Region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58D0F3E-0A93-BA05-2F9B-E428B9193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251" y="1393734"/>
            <a:ext cx="9457965" cy="44710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6D22D19-58BD-EE5A-8928-6676719E8A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474" y="5864772"/>
            <a:ext cx="8415518" cy="363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546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654F4-7158-8426-12BC-66A01B3CA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Solid Fraction (unitless)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9E6AD-4E9C-B85B-B384-6C4BF1B8C3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Convex Hull over the particle centers</a:t>
            </a:r>
          </a:p>
          <a:p>
            <a:pPr lvl="1"/>
            <a:r>
              <a:rPr lang="en-US" dirty="0"/>
              <a:t>Assume this pattern repeats otherwise solid fraction is much lower</a:t>
            </a:r>
          </a:p>
          <a:p>
            <a:pPr lvl="1"/>
            <a:r>
              <a:rPr lang="en-US" dirty="0"/>
              <a:t>Outside compute: 0.543</a:t>
            </a:r>
          </a:p>
          <a:p>
            <a:pPr lvl="1"/>
            <a:r>
              <a:rPr lang="en-US" dirty="0"/>
              <a:t>Center compute: 0.578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8EA4D0-5803-367E-F6DD-3B05BCBE2A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072" b="27820"/>
          <a:stretch/>
        </p:blipFill>
        <p:spPr>
          <a:xfrm>
            <a:off x="402829" y="3706813"/>
            <a:ext cx="11386341" cy="2238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8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E12BA-7CF7-389D-F460-CE1749391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Roughness (mm)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6B1DE-291B-A238-3081-6EC2DD259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07597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Height map in mm</a:t>
            </a:r>
          </a:p>
          <a:p>
            <a:r>
              <a:rPr lang="en-US" dirty="0"/>
              <a:t>For each transverse direction to spreading (</a:t>
            </a:r>
            <a:r>
              <a:rPr lang="en-US" dirty="0" err="1"/>
              <a:t>evey</a:t>
            </a:r>
            <a:r>
              <a:rPr lang="en-US" dirty="0"/>
              <a:t> pixel column) compute standard deviation in height</a:t>
            </a:r>
          </a:p>
          <a:p>
            <a:r>
              <a:rPr lang="en-US" dirty="0"/>
              <a:t>Average these to get roughness value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69C57D-F8E1-0FD4-7CCF-696314829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95" y="3028108"/>
            <a:ext cx="11268891" cy="4961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8773A82-1475-3A92-FB88-6DBC2F8EC7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727" r="18180"/>
          <a:stretch/>
        </p:blipFill>
        <p:spPr>
          <a:xfrm>
            <a:off x="1806270" y="3671434"/>
            <a:ext cx="8147629" cy="17854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7877F53-3724-266E-5E76-88C51CA3D2FC}"/>
              </a:ext>
            </a:extLst>
          </p:cNvPr>
          <p:cNvSpPr txBox="1"/>
          <p:nvPr/>
        </p:nvSpPr>
        <p:spPr>
          <a:xfrm>
            <a:off x="8913829" y="5818772"/>
            <a:ext cx="1331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STD(height)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798329-3F0F-F689-7EDF-38DE221A74D1}"/>
              </a:ext>
            </a:extLst>
          </p:cNvPr>
          <p:cNvSpPr txBox="1"/>
          <p:nvPr/>
        </p:nvSpPr>
        <p:spPr>
          <a:xfrm>
            <a:off x="7472561" y="5843990"/>
            <a:ext cx="1331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STD(height)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7075591B-0F32-3CEF-52E7-42BE86D78FF5}"/>
              </a:ext>
            </a:extLst>
          </p:cNvPr>
          <p:cNvSpPr/>
          <p:nvPr/>
        </p:nvSpPr>
        <p:spPr>
          <a:xfrm>
            <a:off x="9274630" y="3726538"/>
            <a:ext cx="496388" cy="202256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0656CD34-BBA4-D897-DF39-7839F1A8ED1E}"/>
              </a:ext>
            </a:extLst>
          </p:cNvPr>
          <p:cNvSpPr/>
          <p:nvPr/>
        </p:nvSpPr>
        <p:spPr>
          <a:xfrm>
            <a:off x="7889966" y="3726538"/>
            <a:ext cx="496388" cy="202256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28AE02-BEF1-E887-2DA2-E24DDD0E0ADD}"/>
              </a:ext>
            </a:extLst>
          </p:cNvPr>
          <p:cNvSpPr txBox="1"/>
          <p:nvPr/>
        </p:nvSpPr>
        <p:spPr>
          <a:xfrm>
            <a:off x="5918686" y="5818772"/>
            <a:ext cx="1331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STD(height)</a:t>
            </a: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B0999359-882C-AFC8-22B2-99D0BCE798A9}"/>
              </a:ext>
            </a:extLst>
          </p:cNvPr>
          <p:cNvSpPr/>
          <p:nvPr/>
        </p:nvSpPr>
        <p:spPr>
          <a:xfrm>
            <a:off x="6336091" y="3701320"/>
            <a:ext cx="496388" cy="202256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F5F204-F781-1FA0-B2C6-BE3FC1309834}"/>
              </a:ext>
            </a:extLst>
          </p:cNvPr>
          <p:cNvSpPr txBox="1"/>
          <p:nvPr/>
        </p:nvSpPr>
        <p:spPr>
          <a:xfrm>
            <a:off x="4476150" y="5818772"/>
            <a:ext cx="1331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STD(height)</a:t>
            </a:r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7EAC1EB5-9CC0-C8A8-A6AE-91E3CAF6BB5E}"/>
              </a:ext>
            </a:extLst>
          </p:cNvPr>
          <p:cNvSpPr/>
          <p:nvPr/>
        </p:nvSpPr>
        <p:spPr>
          <a:xfrm>
            <a:off x="4893555" y="3701320"/>
            <a:ext cx="496388" cy="202256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91ACFB-F9E6-4FCB-5579-5052D053D7DC}"/>
              </a:ext>
            </a:extLst>
          </p:cNvPr>
          <p:cNvSpPr txBox="1"/>
          <p:nvPr/>
        </p:nvSpPr>
        <p:spPr>
          <a:xfrm>
            <a:off x="2922275" y="5788886"/>
            <a:ext cx="1331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STD(height)</a:t>
            </a:r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87DB44A2-0326-A4E8-8D3E-A1ACEB5E12D7}"/>
              </a:ext>
            </a:extLst>
          </p:cNvPr>
          <p:cNvSpPr/>
          <p:nvPr/>
        </p:nvSpPr>
        <p:spPr>
          <a:xfrm>
            <a:off x="3339680" y="3671434"/>
            <a:ext cx="496388" cy="202256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D722A2-8B20-4B90-D744-9041429D2623}"/>
              </a:ext>
            </a:extLst>
          </p:cNvPr>
          <p:cNvSpPr txBox="1"/>
          <p:nvPr/>
        </p:nvSpPr>
        <p:spPr>
          <a:xfrm>
            <a:off x="1558722" y="5788886"/>
            <a:ext cx="1331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STD(height)</a:t>
            </a: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680DB860-3C2B-8DC4-1B10-6DBBB475A6EA}"/>
              </a:ext>
            </a:extLst>
          </p:cNvPr>
          <p:cNvSpPr/>
          <p:nvPr/>
        </p:nvSpPr>
        <p:spPr>
          <a:xfrm>
            <a:off x="1976127" y="3671434"/>
            <a:ext cx="496388" cy="202256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Left Brace 22">
            <a:extLst>
              <a:ext uri="{FF2B5EF4-FFF2-40B4-BE49-F238E27FC236}">
                <a16:creationId xmlns:a16="http://schemas.microsoft.com/office/drawing/2014/main" id="{F2C1C675-70EB-C59B-C949-926E69246BB1}"/>
              </a:ext>
            </a:extLst>
          </p:cNvPr>
          <p:cNvSpPr/>
          <p:nvPr/>
        </p:nvSpPr>
        <p:spPr>
          <a:xfrm rot="16200000">
            <a:off x="5695418" y="2037224"/>
            <a:ext cx="369333" cy="8541968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882CEAA-744B-BB6D-537F-B152DFEB95C3}"/>
              </a:ext>
            </a:extLst>
          </p:cNvPr>
          <p:cNvSpPr txBox="1"/>
          <p:nvPr/>
        </p:nvSpPr>
        <p:spPr>
          <a:xfrm>
            <a:off x="5169827" y="6522759"/>
            <a:ext cx="14977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Average(STD)</a:t>
            </a:r>
          </a:p>
        </p:txBody>
      </p:sp>
    </p:spTree>
    <p:extLst>
      <p:ext uri="{BB962C8B-B14F-4D97-AF65-F5344CB8AC3E}">
        <p14:creationId xmlns:p14="http://schemas.microsoft.com/office/powerpoint/2010/main" val="861183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6A1E4-2D29-2A31-891A-D53C7A1F4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Metric Comparison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F3301FAB-B460-767F-C433-69DBF39454B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2388289"/>
              </p:ext>
            </p:extLst>
          </p:nvPr>
        </p:nvGraphicFramePr>
        <p:xfrm>
          <a:off x="684306" y="1443997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D4E9AFB2-E459-4DE0-2D9D-6B7248BFA2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54326985"/>
              </p:ext>
            </p:extLst>
          </p:nvPr>
        </p:nvGraphicFramePr>
        <p:xfrm>
          <a:off x="6271491" y="1342397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486225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14D25-45DF-13EB-005B-D3CF0B69B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Metric to Variance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FC00B0CA-CA61-DF9E-E88A-85A3C68123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11606553"/>
              </p:ext>
            </p:extLst>
          </p:nvPr>
        </p:nvGraphicFramePr>
        <p:xfrm>
          <a:off x="625366" y="1458311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BBA7D296-A826-582B-622A-D8D44AECDC0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9357498"/>
              </p:ext>
            </p:extLst>
          </p:nvPr>
        </p:nvGraphicFramePr>
        <p:xfrm>
          <a:off x="6994634" y="1458311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BBA7D296-A826-582B-622A-D8D44AECDC0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6092488"/>
              </p:ext>
            </p:extLst>
          </p:nvPr>
        </p:nvGraphicFramePr>
        <p:xfrm>
          <a:off x="4051738" y="4201511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189427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99B86-6D4A-22AB-9909-3966A1F10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Coordinate Number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CBC741B6-0673-E281-D6DB-35838183A3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06862775"/>
              </p:ext>
            </p:extLst>
          </p:nvPr>
        </p:nvGraphicFramePr>
        <p:xfrm>
          <a:off x="3810000" y="416410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CBC741B6-0673-E281-D6DB-35838183A3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5751347"/>
              </p:ext>
            </p:extLst>
          </p:nvPr>
        </p:nvGraphicFramePr>
        <p:xfrm>
          <a:off x="6942083" y="142090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CBC741B6-0673-E281-D6DB-35838183A3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83818612"/>
              </p:ext>
            </p:extLst>
          </p:nvPr>
        </p:nvGraphicFramePr>
        <p:xfrm>
          <a:off x="677918" y="1555797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866963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5524D-DE99-F449-692B-9B7DBF5E1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Coordinate Number Variance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4180B9E-869D-4931-9B76-8B25787E30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90043841"/>
              </p:ext>
            </p:extLst>
          </p:nvPr>
        </p:nvGraphicFramePr>
        <p:xfrm>
          <a:off x="7068206" y="1690688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6AC5D61B-C1A0-49EE-BFC2-7F92375CFE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76791994"/>
              </p:ext>
            </p:extLst>
          </p:nvPr>
        </p:nvGraphicFramePr>
        <p:xfrm>
          <a:off x="3810000" y="4254062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DD7514FF-1C91-4612-8298-42D356D19FC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07401482"/>
              </p:ext>
            </p:extLst>
          </p:nvPr>
        </p:nvGraphicFramePr>
        <p:xfrm>
          <a:off x="1413642" y="1510862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451729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99B86-6D4A-22AB-9909-3966A1F10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Relative Density (solid fraction)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CBC741B6-0673-E281-D6DB-35838183A3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72836473"/>
              </p:ext>
            </p:extLst>
          </p:nvPr>
        </p:nvGraphicFramePr>
        <p:xfrm>
          <a:off x="635876" y="142090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CBC741B6-0673-E281-D6DB-35838183A3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00670417"/>
              </p:ext>
            </p:extLst>
          </p:nvPr>
        </p:nvGraphicFramePr>
        <p:xfrm>
          <a:off x="6781800" y="142090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CBC741B6-0673-E281-D6DB-35838183A3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28280203"/>
              </p:ext>
            </p:extLst>
          </p:nvPr>
        </p:nvGraphicFramePr>
        <p:xfrm>
          <a:off x="3631324" y="416410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570782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0B4DC-DF40-7148-C5D8-572AB28B8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Relative Density Variance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F792667-81A3-42A3-B78B-60A35F7429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96312076"/>
              </p:ext>
            </p:extLst>
          </p:nvPr>
        </p:nvGraphicFramePr>
        <p:xfrm>
          <a:off x="457200" y="130925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D4180B9E-869D-4931-9B76-8B25787E30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51653780"/>
              </p:ext>
            </p:extLst>
          </p:nvPr>
        </p:nvGraphicFramePr>
        <p:xfrm>
          <a:off x="5786582" y="130925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10C20B0F-50B9-4AF6-A5A1-3091853BD2B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30563767"/>
              </p:ext>
            </p:extLst>
          </p:nvPr>
        </p:nvGraphicFramePr>
        <p:xfrm>
          <a:off x="3338946" y="3904673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888962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E97A2-8A0D-1FC4-A8D9-2879D601C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Surface Roughness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CBC741B6-0673-E281-D6DB-35838183A3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92705901"/>
              </p:ext>
            </p:extLst>
          </p:nvPr>
        </p:nvGraphicFramePr>
        <p:xfrm>
          <a:off x="708212" y="1531144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CBC741B6-0673-E281-D6DB-35838183A3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1049544"/>
              </p:ext>
            </p:extLst>
          </p:nvPr>
        </p:nvGraphicFramePr>
        <p:xfrm>
          <a:off x="6911788" y="161091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CBC741B6-0673-E281-D6DB-35838183A3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17169250"/>
              </p:ext>
            </p:extLst>
          </p:nvPr>
        </p:nvGraphicFramePr>
        <p:xfrm>
          <a:off x="3915104" y="414853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292670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5673E-C7DD-72D4-FDA0-D2C98BCC0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Roughness Variance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38CB4BF9-896A-1AB6-3D08-B813202CE3B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58644927"/>
              </p:ext>
            </p:extLst>
          </p:nvPr>
        </p:nvGraphicFramePr>
        <p:xfrm>
          <a:off x="743528" y="1455594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BF35E203-A5BC-3763-C48C-2569573F96E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99620835"/>
              </p:ext>
            </p:extLst>
          </p:nvPr>
        </p:nvGraphicFramePr>
        <p:xfrm>
          <a:off x="6710218" y="1219633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ED6A5349-F0BD-4BBA-87E0-D9857C1BEC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44856984"/>
              </p:ext>
            </p:extLst>
          </p:nvPr>
        </p:nvGraphicFramePr>
        <p:xfrm>
          <a:off x="3874655" y="3962833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464670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230F5-092C-0810-E2A1-39FF6E57A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C8964-B0A6-A162-FB71-30FD6A685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3548489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Using cross-validation</a:t>
            </a:r>
          </a:p>
          <a:p>
            <a:pPr lvl="1"/>
            <a:r>
              <a:rPr lang="en-US" dirty="0"/>
              <a:t>10% validation holdout</a:t>
            </a:r>
          </a:p>
          <a:p>
            <a:pPr lvl="1"/>
            <a:r>
              <a:rPr lang="en-US" dirty="0"/>
              <a:t>10% test holdout</a:t>
            </a:r>
          </a:p>
          <a:p>
            <a:pPr lvl="1"/>
            <a:r>
              <a:rPr lang="en-US" dirty="0"/>
              <a:t>80% training </a:t>
            </a:r>
          </a:p>
          <a:p>
            <a:r>
              <a:rPr lang="en-US" dirty="0"/>
              <a:t>FCNN overfits on validation </a:t>
            </a:r>
          </a:p>
          <a:p>
            <a:r>
              <a:rPr lang="en-US" dirty="0"/>
              <a:t>Random forest performs best overall</a:t>
            </a:r>
          </a:p>
        </p:txBody>
      </p:sp>
      <p:sp>
        <p:nvSpPr>
          <p:cNvPr id="4" name="AutoShape 2" descr="Output image">
            <a:extLst>
              <a:ext uri="{FF2B5EF4-FFF2-40B4-BE49-F238E27FC236}">
                <a16:creationId xmlns:a16="http://schemas.microsoft.com/office/drawing/2014/main" id="{17F123FE-FBDC-A51E-41F6-6F287246AD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9638" y="619125"/>
            <a:ext cx="10372725" cy="561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B13189-3E45-43BF-7ACE-853BE5510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6688" y="1825625"/>
            <a:ext cx="7364766" cy="3990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1771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775C1-B840-E444-F140-DEB9F5169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Prediction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F3B0B69-55DF-FC5F-8071-11CCE2073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0706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Held out performance</a:t>
            </a:r>
          </a:p>
          <a:p>
            <a:r>
              <a:rPr lang="en-US" dirty="0"/>
              <a:t>Normalized RMSE should be compared to 1 for random predictor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925E427-CEF7-5FF1-F599-A66AEEB7D8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9381913"/>
              </p:ext>
            </p:extLst>
          </p:nvPr>
        </p:nvGraphicFramePr>
        <p:xfrm>
          <a:off x="1860331" y="2942897"/>
          <a:ext cx="7735615" cy="3409267"/>
        </p:xfrm>
        <a:graphic>
          <a:graphicData uri="http://schemas.openxmlformats.org/drawingml/2006/table">
            <a:tbl>
              <a:tblPr/>
              <a:tblGrid>
                <a:gridCol w="1547123">
                  <a:extLst>
                    <a:ext uri="{9D8B030D-6E8A-4147-A177-3AD203B41FA5}">
                      <a16:colId xmlns:a16="http://schemas.microsoft.com/office/drawing/2014/main" val="3555630695"/>
                    </a:ext>
                  </a:extLst>
                </a:gridCol>
                <a:gridCol w="1547123">
                  <a:extLst>
                    <a:ext uri="{9D8B030D-6E8A-4147-A177-3AD203B41FA5}">
                      <a16:colId xmlns:a16="http://schemas.microsoft.com/office/drawing/2014/main" val="2726383909"/>
                    </a:ext>
                  </a:extLst>
                </a:gridCol>
                <a:gridCol w="1547123">
                  <a:extLst>
                    <a:ext uri="{9D8B030D-6E8A-4147-A177-3AD203B41FA5}">
                      <a16:colId xmlns:a16="http://schemas.microsoft.com/office/drawing/2014/main" val="4288742821"/>
                    </a:ext>
                  </a:extLst>
                </a:gridCol>
                <a:gridCol w="1547123">
                  <a:extLst>
                    <a:ext uri="{9D8B030D-6E8A-4147-A177-3AD203B41FA5}">
                      <a16:colId xmlns:a16="http://schemas.microsoft.com/office/drawing/2014/main" val="3905708063"/>
                    </a:ext>
                  </a:extLst>
                </a:gridCol>
                <a:gridCol w="1547123">
                  <a:extLst>
                    <a:ext uri="{9D8B030D-6E8A-4147-A177-3AD203B41FA5}">
                      <a16:colId xmlns:a16="http://schemas.microsoft.com/office/drawing/2014/main" val="1367382394"/>
                    </a:ext>
                  </a:extLst>
                </a:gridCol>
              </a:tblGrid>
              <a:tr h="32257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Output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Normalized RMSE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R²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Physical RMSE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Physical MAE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698328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Mean roughness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0.1924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0.9553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0.0076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0.0061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7521381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Roughness variance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0.4228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0.8004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0.0007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0.0005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850232"/>
                  </a:ext>
                </a:extLst>
              </a:tr>
              <a:tr h="47941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Mean relative density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0.4250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0.7013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0.0051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0.0042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0634093"/>
                  </a:ext>
                </a:extLst>
              </a:tr>
              <a:tr h="47941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Relative-density variance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0.3240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0.8635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0.0002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0.0002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0767914"/>
                  </a:ext>
                </a:extLst>
              </a:tr>
              <a:tr h="636247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Mean coordination number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0.2972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0.8970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0.0846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0.0584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1090254"/>
                  </a:ext>
                </a:extLst>
              </a:tr>
              <a:tr h="636247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Coordination-number variance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0.3927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0.8523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0.2899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0.2203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1352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0741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4196</TotalTime>
  <Words>397</Words>
  <Application>Microsoft Office PowerPoint</Application>
  <PresentationFormat>Widescreen</PresentationFormat>
  <Paragraphs>124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Aptos Narrow</vt:lpstr>
      <vt:lpstr>Arial</vt:lpstr>
      <vt:lpstr>Office Theme</vt:lpstr>
      <vt:lpstr>DOE-Parameters for DEM model</vt:lpstr>
      <vt:lpstr>Analysis Region</vt:lpstr>
      <vt:lpstr>Solid Fraction (unitless)</vt:lpstr>
      <vt:lpstr>Roughness (mm)</vt:lpstr>
      <vt:lpstr>Metric Comparison</vt:lpstr>
      <vt:lpstr>Metric to Variance</vt:lpstr>
      <vt:lpstr>Coordinate Number</vt:lpstr>
      <vt:lpstr>Coordinate Number Variance</vt:lpstr>
      <vt:lpstr>Relative Density (solid fraction)</vt:lpstr>
      <vt:lpstr>Relative Density Variance</vt:lpstr>
      <vt:lpstr>Surface Roughness</vt:lpstr>
      <vt:lpstr>Roughness Variance</vt:lpstr>
      <vt:lpstr>Model Comparison</vt:lpstr>
      <vt:lpstr>Model Prediction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Elisa Torresani</dc:creator>
  <cp:lastModifiedBy>Nicholas Satterlee</cp:lastModifiedBy>
  <cp:revision>4</cp:revision>
  <dcterms:created xsi:type="dcterms:W3CDTF">2026-08-12T16:18:13Z</dcterms:created>
  <dcterms:modified xsi:type="dcterms:W3CDTF">2026-09-21T18:14:27Z</dcterms:modified>
</cp:coreProperties>
</file>